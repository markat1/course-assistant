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the control plane in front of two engines on one GPU. The gateway decides what enters and where it goes; the engine decides what runs next. Every decision is proven with scrapes from the real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browser, app, my gateway, the two engines, overflow and metrics. The gateway owns what enters and where; SGLang owns the batch. HAMi splits the memory, not the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step re-sends the whole conversation, so the shared prefix is what I protect and the growing tail is what costs. The gateway sees three requests; it does not know they belong to one question. app/llm.py is the only model client and it points at the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(k3s) runs the two engines because only it can slice the GPU with HAMi. Docker Compose runs everything we wrote. Two boxes: the gateway owns admit, place and queue; the engine owns waiting, KV, preemption and kernels. HAMi slices the memory, not the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need two workers. One 80 GB card holds two Qwen3-8B replicas with a useful KV pool each. Colocated because the shared prefix is cached; with long unique prompts I would split prefill and decode. The overflow recipient is a named model with a named limiter, decided but not wired.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 would allow 57 agent turns per worker, we allow 8. The scheduler binds first, and the measurement confirmed it: engines ran exactly 8, KV never went above 8.8 percent. Even earlier, our own gateway cap of 2 bound: raising it to 8 gave 3.3x.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has its own code and reason, and the first stage that says no decides. The order is the order in gateway/main.py:chat_completions. Not the scheduler: I only set engine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guard refuses what the engine could not run anyway. Rate limiter asks 'are you allowed?', admission asks 'is it possible?' - two questions, two codes. The tokenizer was my weakest point yesterday: the gateway now counts with Qwen's own tokenizer behind a switch; the estimate was 25 percent high on prose.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place on the least-loaded worker - my queue plus in flight plus the engine's queue - but a worker that already holds the prefix may be up to 4 requests busier and still win, because a cold prefix costs 54-73 ms against 15-17 ms warm. Slack is my tunable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Dispatch cap equals the engine's running cap, so the backlog sits with me, where I can prioritise and shed. Only my queue can say no. Batch starved under one 5 second deadline; it now has its own 30 second deadline and a share of the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answers these from a live Prometheus scrape. Do not reimplement the engine: we only order our own queue; batching, chunked prefill and retraction are SGLang's.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replica is not warm because the weights are loaded. Even with the prefix cached, the next request took 98 ms. So my gateway sends five warmup requests on the app's own prefix before it declares the worker ready, and I quote the SLO warm only. My hop backend is called recompute: I record every hop and move no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line is worker-b going down four times; worker-a alone takes about 5 placements per second. When b is back it re-enters only after warmup and ramp. Simply returning from the handler does not stop the engine from generating, so I proved the abort.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numbers are the proof. Each one points at a file in metrics/. Latency on the H100 and the A100 is not compared.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top-down in Abi's debugging order: admission, then the queue, then routing, then memory. Key point: our queue rises while the engine queue stays near zero. At 40 users TTFT p50 rises to 1.5 s - the price of running at the cap - which is what TtftSloBreach catches.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Queue depth leads, TTFT confirms. Each alert names the layer. Rules are in monitoring/alerts.yaml and unit-tested with promtool.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Uncached prefill is small; decode slots are hot. More waiting, more memory pressure or more copies on the same GPU all make it worse. No autoscaling today; KEDA would scale on queue depth and KV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 instructor's bad answers apply. The three to say freely: nothing moves between workers; ready means warm; a 429 never overflows.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honest limits. Each has a next step written in DESIGN.md under Open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during questions to jump to the right slide. Full answers with files are in DESIGN.md and docs/PRESENTATION.md.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530"/>
        </a:solidFill>
      </p:bgPr>
    </p:bg>
    <p:spTree>
      <p:nvGrpSpPr>
        <p:cNvPr id="1" name=""/>
        <p:cNvGrpSpPr/>
        <p:nvPr/>
      </p:nvGrpSpPr>
      <p:grpSpPr>
        <a:xfrm>
          <a:off x="0" y="0"/>
          <a:ext cx="0" cy="0"/>
          <a:chOff x="0" y="0"/>
          <a:chExt cx="0" cy="0"/>
        </a:xfrm>
      </p:grpSpPr>
      <p:sp>
        <p:nvSpPr>
          <p:cNvPr id="2" name="Text 0"/>
          <p:cNvSpPr txBox="1"/>
          <p:nvPr/>
        </p:nvSpPr>
        <p:spPr>
          <a:xfrm>
            <a:off x="731520" y="137160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Course Assistant</a:t>
            </a:r>
            <a:endParaRPr lang="en-US" sz="4800" dirty="0"/>
          </a:p>
        </p:txBody>
      </p:sp>
      <p:sp>
        <p:nvSpPr>
          <p:cNvPr id="3" name="Text 1"/>
          <p:cNvSpPr txBox="1"/>
          <p:nvPr/>
        </p:nvSpPr>
        <p:spPr>
          <a:xfrm>
            <a:off x="731520" y="2331720"/>
            <a:ext cx="10515600" cy="457200"/>
          </a:xfrm>
          <a:prstGeom prst="rect">
            <a:avLst/>
          </a:prstGeom>
          <a:noFill/>
          <a:ln/>
        </p:spPr>
        <p:txBody>
          <a:bodyPr wrap="square" lIns="0" tIns="0" rIns="0" bIns="0" rtlCol="0" anchor="ctr"/>
          <a:lstStyle/>
          <a:p>
            <a:pPr indent="0" marL="0">
              <a:buNone/>
            </a:pPr>
            <a:r>
              <a:rPr lang="en-US" sz="2000" dirty="0">
                <a:solidFill>
                  <a:srgbClr val="CBD3DC"/>
                </a:solidFill>
                <a:latin typeface="Arial" pitchFamily="34" charset="0"/>
                <a:ea typeface="Arial" pitchFamily="34" charset="-122"/>
                <a:cs typeface="Arial" pitchFamily="34" charset="-120"/>
              </a:rPr>
              <a:t>Design the cluster and serve an app  -  InferenceOps final project</a:t>
            </a:r>
            <a:endParaRPr lang="en-US" sz="2000" dirty="0"/>
          </a:p>
        </p:txBody>
      </p:sp>
      <p:sp>
        <p:nvSpPr>
          <p:cNvPr id="4" name="Shape 2"/>
          <p:cNvSpPr/>
          <p:nvPr/>
        </p:nvSpPr>
        <p:spPr>
          <a:xfrm>
            <a:off x="731520" y="3383280"/>
            <a:ext cx="3383280" cy="1188720"/>
          </a:xfrm>
          <a:prstGeom prst="roundRect">
            <a:avLst>
              <a:gd name="adj" fmla="val 11538"/>
            </a:avLst>
          </a:prstGeom>
          <a:solidFill>
            <a:srgbClr val="1971C2"/>
          </a:solidFill>
          <a:ln w="12700">
            <a:solidFill>
              <a:srgbClr val="1971C2"/>
            </a:solidFill>
            <a:prstDash val="solid"/>
          </a:ln>
        </p:spPr>
      </p:sp>
      <p:sp>
        <p:nvSpPr>
          <p:cNvPr id="5" name="Text 3"/>
          <p:cNvSpPr txBox="1"/>
          <p:nvPr/>
        </p:nvSpPr>
        <p:spPr>
          <a:xfrm>
            <a:off x="960120" y="3493008"/>
            <a:ext cx="292608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APP</a:t>
            </a:r>
            <a:endParaRPr lang="en-US" sz="2000" dirty="0"/>
          </a:p>
        </p:txBody>
      </p:sp>
      <p:sp>
        <p:nvSpPr>
          <p:cNvPr id="6" name="Text 4"/>
          <p:cNvSpPr txBox="1"/>
          <p:nvPr/>
        </p:nvSpPr>
        <p:spPr>
          <a:xfrm>
            <a:off x="960120" y="3950208"/>
            <a:ext cx="2926080" cy="45720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Router -&gt; Tutor -&gt; lookup_course</a:t>
            </a:r>
            <a:endParaRPr lang="en-US" sz="1400" dirty="0"/>
          </a:p>
        </p:txBody>
      </p:sp>
      <p:sp>
        <p:nvSpPr>
          <p:cNvPr id="7" name="Shape 5"/>
          <p:cNvSpPr/>
          <p:nvPr/>
        </p:nvSpPr>
        <p:spPr>
          <a:xfrm>
            <a:off x="4389120" y="3383280"/>
            <a:ext cx="3383280" cy="1188720"/>
          </a:xfrm>
          <a:prstGeom prst="roundRect">
            <a:avLst>
              <a:gd name="adj" fmla="val 11538"/>
            </a:avLst>
          </a:prstGeom>
          <a:solidFill>
            <a:srgbClr val="E67700"/>
          </a:solidFill>
          <a:ln w="12700">
            <a:solidFill>
              <a:srgbClr val="E67700"/>
            </a:solidFill>
            <a:prstDash val="solid"/>
          </a:ln>
        </p:spPr>
      </p:sp>
      <p:sp>
        <p:nvSpPr>
          <p:cNvPr id="8" name="Text 6"/>
          <p:cNvSpPr txBox="1"/>
          <p:nvPr/>
        </p:nvSpPr>
        <p:spPr>
          <a:xfrm>
            <a:off x="4617720" y="3493008"/>
            <a:ext cx="292608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GATEWAY</a:t>
            </a:r>
            <a:endParaRPr lang="en-US" sz="2000" dirty="0"/>
          </a:p>
        </p:txBody>
      </p:sp>
      <p:sp>
        <p:nvSpPr>
          <p:cNvPr id="9" name="Text 7"/>
          <p:cNvSpPr txBox="1"/>
          <p:nvPr/>
        </p:nvSpPr>
        <p:spPr>
          <a:xfrm>
            <a:off x="4617720" y="3950208"/>
            <a:ext cx="2926080" cy="45720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decides what enters and where</a:t>
            </a:r>
            <a:endParaRPr lang="en-US" sz="1400" dirty="0"/>
          </a:p>
        </p:txBody>
      </p:sp>
      <p:sp>
        <p:nvSpPr>
          <p:cNvPr id="10" name="Shape 8"/>
          <p:cNvSpPr/>
          <p:nvPr/>
        </p:nvSpPr>
        <p:spPr>
          <a:xfrm>
            <a:off x="8046720" y="3383280"/>
            <a:ext cx="3383280" cy="1188720"/>
          </a:xfrm>
          <a:prstGeom prst="roundRect">
            <a:avLst>
              <a:gd name="adj" fmla="val 11538"/>
            </a:avLst>
          </a:prstGeom>
          <a:solidFill>
            <a:srgbClr val="2F9E44"/>
          </a:solidFill>
          <a:ln w="12700">
            <a:solidFill>
              <a:srgbClr val="2F9E44"/>
            </a:solidFill>
            <a:prstDash val="solid"/>
          </a:ln>
        </p:spPr>
      </p:sp>
      <p:sp>
        <p:nvSpPr>
          <p:cNvPr id="11" name="Text 9"/>
          <p:cNvSpPr txBox="1"/>
          <p:nvPr/>
        </p:nvSpPr>
        <p:spPr>
          <a:xfrm>
            <a:off x="8275320" y="3493008"/>
            <a:ext cx="292608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ENGINE</a:t>
            </a:r>
            <a:endParaRPr lang="en-US" sz="2000" dirty="0"/>
          </a:p>
        </p:txBody>
      </p:sp>
      <p:sp>
        <p:nvSpPr>
          <p:cNvPr id="12" name="Text 10"/>
          <p:cNvSpPr txBox="1"/>
          <p:nvPr/>
        </p:nvSpPr>
        <p:spPr>
          <a:xfrm>
            <a:off x="8275320" y="3950208"/>
            <a:ext cx="2926080" cy="45720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decides what runs next</a:t>
            </a:r>
            <a:endParaRPr lang="en-US" sz="1400" dirty="0"/>
          </a:p>
        </p:txBody>
      </p:sp>
      <p:sp>
        <p:nvSpPr>
          <p:cNvPr id="13" name="Text 11"/>
          <p:cNvSpPr txBox="1"/>
          <p:nvPr/>
        </p:nvSpPr>
        <p:spPr>
          <a:xfrm>
            <a:off x="731520" y="4937760"/>
            <a:ext cx="10515600" cy="411480"/>
          </a:xfrm>
          <a:prstGeom prst="rect">
            <a:avLst/>
          </a:prstGeom>
          <a:noFill/>
          <a:ln/>
        </p:spPr>
        <p:txBody>
          <a:bodyPr wrap="square" lIns="0" tIns="0" rIns="0" bIns="0" rtlCol="0" anchor="ctr"/>
          <a:lstStyle/>
          <a:p>
            <a:pPr indent="0" marL="0">
              <a:buNone/>
            </a:pPr>
            <a:r>
              <a:rPr lang="en-US" sz="1800" i="1" dirty="0">
                <a:solidFill>
                  <a:srgbClr val="FFFFFF"/>
                </a:solidFill>
                <a:latin typeface="Arial" pitchFamily="34" charset="0"/>
                <a:ea typeface="Arial" pitchFamily="34" charset="-122"/>
                <a:cs typeface="Arial" pitchFamily="34" charset="-120"/>
              </a:rPr>
              <a:t>Every decision is proven with scrapes from the real cluster.</a:t>
            </a:r>
            <a:endParaRPr lang="en-US" sz="1800" dirty="0"/>
          </a:p>
        </p:txBody>
      </p:sp>
      <p:sp>
        <p:nvSpPr>
          <p:cNvPr id="14" name="Text 12"/>
          <p:cNvSpPr txBox="1"/>
          <p:nvPr/>
        </p:nvSpPr>
        <p:spPr>
          <a:xfrm>
            <a:off x="731520" y="5943600"/>
            <a:ext cx="10515600" cy="365760"/>
          </a:xfrm>
          <a:prstGeom prst="rect">
            <a:avLst/>
          </a:prstGeom>
          <a:noFill/>
          <a:ln/>
        </p:spPr>
        <p:txBody>
          <a:bodyPr wrap="square" lIns="0" tIns="0" rIns="0" bIns="0" rtlCol="0" anchor="ctr"/>
          <a:lstStyle/>
          <a:p>
            <a:pPr indent="0" marL="0">
              <a:buNone/>
            </a:pPr>
            <a:r>
              <a:rPr lang="en-US" sz="1300" dirty="0">
                <a:solidFill>
                  <a:srgbClr val="CBD3DC"/>
                </a:solidFill>
                <a:latin typeface="Arial" pitchFamily="34" charset="0"/>
                <a:ea typeface="Arial" pitchFamily="34" charset="-122"/>
                <a:cs typeface="Arial" pitchFamily="34" charset="-120"/>
              </a:rPr>
              <a:t>Mark  |  1 October 2026  |  github.com/markat1/course-assistant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The whole picture</a:t>
            </a:r>
            <a:endParaRPr lang="en-US" sz="3000" dirty="0"/>
          </a:p>
        </p:txBody>
      </p:sp>
      <p:sp>
        <p:nvSpPr>
          <p:cNvPr id="3" name="Shape 1"/>
          <p:cNvSpPr/>
          <p:nvPr/>
        </p:nvSpPr>
        <p:spPr>
          <a:xfrm>
            <a:off x="10509199" y="384048"/>
            <a:ext cx="1225296"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509199" y="384048"/>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Overview</a:t>
            </a:r>
            <a:endParaRPr lang="en-US" sz="1200" dirty="0"/>
          </a:p>
        </p:txBody>
      </p:sp>
      <p:pic>
        <p:nvPicPr>
          <p:cNvPr id="5" name="Image 0" descr="architecture.png">    </p:cNvPr>
          <p:cNvPicPr>
            <a:picLocks noChangeAspect="1"/>
          </p:cNvPicPr>
          <p:nvPr/>
        </p:nvPicPr>
        <p:blipFill>
          <a:blip r:embed="rId1"/>
          <a:stretch>
            <a:fillRect/>
          </a:stretch>
        </p:blipFill>
        <p:spPr>
          <a:xfrm>
            <a:off x="457200" y="1051560"/>
            <a:ext cx="7863840" cy="5436729"/>
          </a:xfrm>
          <a:prstGeom prst="rect">
            <a:avLst/>
          </a:prstGeom>
        </p:spPr>
      </p:pic>
      <p:sp>
        <p:nvSpPr>
          <p:cNvPr id="6" name="Shape 3"/>
          <p:cNvSpPr/>
          <p:nvPr/>
        </p:nvSpPr>
        <p:spPr>
          <a:xfrm>
            <a:off x="8595360" y="1051560"/>
            <a:ext cx="3136392" cy="1600200"/>
          </a:xfrm>
          <a:prstGeom prst="roundRect">
            <a:avLst>
              <a:gd name="adj" fmla="val 6857"/>
            </a:avLst>
          </a:prstGeom>
          <a:solidFill>
            <a:srgbClr val="FFF4E6"/>
          </a:solidFill>
          <a:ln w="12700">
            <a:solidFill>
              <a:srgbClr val="FFF4E6"/>
            </a:solidFill>
            <a:prstDash val="solid"/>
          </a:ln>
        </p:spPr>
      </p:sp>
      <p:sp>
        <p:nvSpPr>
          <p:cNvPr id="7" name="Text 4"/>
          <p:cNvSpPr txBox="1"/>
          <p:nvPr/>
        </p:nvSpPr>
        <p:spPr>
          <a:xfrm>
            <a:off x="8778240" y="1188720"/>
            <a:ext cx="2770632" cy="347472"/>
          </a:xfrm>
          <a:prstGeom prst="rect">
            <a:avLst/>
          </a:prstGeom>
          <a:noFill/>
          <a:ln/>
        </p:spPr>
        <p:txBody>
          <a:bodyPr wrap="square" lIns="0" tIns="0" rIns="0" bIns="0" rtlCol="0" anchor="ctr"/>
          <a:lstStyle/>
          <a:p>
            <a:pPr indent="0" marL="0">
              <a:buNone/>
            </a:pPr>
            <a:r>
              <a:rPr lang="en-US" sz="1500" b="1" dirty="0">
                <a:solidFill>
                  <a:srgbClr val="E67700"/>
                </a:solidFill>
                <a:latin typeface="Arial" pitchFamily="34" charset="0"/>
                <a:ea typeface="Arial" pitchFamily="34" charset="-122"/>
                <a:cs typeface="Arial" pitchFamily="34" charset="-120"/>
              </a:rPr>
              <a:t>Gateway (box 1)</a:t>
            </a:r>
            <a:endParaRPr lang="en-US" sz="1500" dirty="0"/>
          </a:p>
        </p:txBody>
      </p:sp>
      <p:sp>
        <p:nvSpPr>
          <p:cNvPr id="8" name="Text 5"/>
          <p:cNvSpPr txBox="1"/>
          <p:nvPr/>
        </p:nvSpPr>
        <p:spPr>
          <a:xfrm>
            <a:off x="8778240" y="1600200"/>
            <a:ext cx="2770632" cy="941832"/>
          </a:xfrm>
          <a:prstGeom prst="rect">
            <a:avLst/>
          </a:prstGeom>
          <a:noFill/>
          <a:ln/>
        </p:spPr>
        <p:txBody>
          <a:bodyPr wrap="square" lIns="0" tIns="0" rIns="0" bIns="0" rtlCol="0" anchor="t"/>
          <a:lstStyle/>
          <a:p>
            <a:pPr indent="0" marL="0">
              <a:spcAft>
                <a:spcPts val="500"/>
              </a:spcAft>
              <a:buNone/>
            </a:pPr>
            <a:r>
              <a:rPr lang="en-US" sz="1300" dirty="0">
                <a:solidFill>
                  <a:srgbClr val="1E2530"/>
                </a:solidFill>
                <a:latin typeface="Arial" pitchFamily="34" charset="0"/>
                <a:ea typeface="Arial" pitchFamily="34" charset="-122"/>
                <a:cs typeface="Arial" pitchFamily="34" charset="-120"/>
              </a:rPr>
              <a:t>Guard, tenant window, admit, place, queue, hop record, warmup, stay or leave.</a:t>
            </a:r>
            <a:endParaRPr lang="en-US" sz="1300" dirty="0"/>
          </a:p>
        </p:txBody>
      </p:sp>
      <p:sp>
        <p:nvSpPr>
          <p:cNvPr id="9" name="Shape 6"/>
          <p:cNvSpPr/>
          <p:nvPr/>
        </p:nvSpPr>
        <p:spPr>
          <a:xfrm>
            <a:off x="8595360" y="2788920"/>
            <a:ext cx="3136392" cy="1600200"/>
          </a:xfrm>
          <a:prstGeom prst="roundRect">
            <a:avLst>
              <a:gd name="adj" fmla="val 6857"/>
            </a:avLst>
          </a:prstGeom>
          <a:solidFill>
            <a:srgbClr val="EBFBEE"/>
          </a:solidFill>
          <a:ln w="12700">
            <a:solidFill>
              <a:srgbClr val="EBFBEE"/>
            </a:solidFill>
            <a:prstDash val="solid"/>
          </a:ln>
        </p:spPr>
      </p:sp>
      <p:sp>
        <p:nvSpPr>
          <p:cNvPr id="10" name="Text 7"/>
          <p:cNvSpPr txBox="1"/>
          <p:nvPr/>
        </p:nvSpPr>
        <p:spPr>
          <a:xfrm>
            <a:off x="8778240" y="2926080"/>
            <a:ext cx="2770632" cy="347472"/>
          </a:xfrm>
          <a:prstGeom prst="rect">
            <a:avLst/>
          </a:prstGeom>
          <a:noFill/>
          <a:ln/>
        </p:spPr>
        <p:txBody>
          <a:bodyPr wrap="square" lIns="0" tIns="0" rIns="0" bIns="0" rtlCol="0" anchor="ctr"/>
          <a:lstStyle/>
          <a:p>
            <a:pPr indent="0" marL="0">
              <a:buNone/>
            </a:pPr>
            <a:r>
              <a:rPr lang="en-US" sz="1500" b="1" dirty="0">
                <a:solidFill>
                  <a:srgbClr val="2F9E44"/>
                </a:solidFill>
                <a:latin typeface="Arial" pitchFamily="34" charset="0"/>
                <a:ea typeface="Arial" pitchFamily="34" charset="-122"/>
                <a:cs typeface="Arial" pitchFamily="34" charset="-120"/>
              </a:rPr>
              <a:t>Engine (box 2)</a:t>
            </a:r>
            <a:endParaRPr lang="en-US" sz="1500" dirty="0"/>
          </a:p>
        </p:txBody>
      </p:sp>
      <p:sp>
        <p:nvSpPr>
          <p:cNvPr id="11" name="Text 8"/>
          <p:cNvSpPr txBox="1"/>
          <p:nvPr/>
        </p:nvSpPr>
        <p:spPr>
          <a:xfrm>
            <a:off x="8778240" y="3337560"/>
            <a:ext cx="2770632" cy="941832"/>
          </a:xfrm>
          <a:prstGeom prst="rect">
            <a:avLst/>
          </a:prstGeom>
          <a:noFill/>
          <a:ln/>
        </p:spPr>
        <p:txBody>
          <a:bodyPr wrap="square" lIns="0" tIns="0" rIns="0" bIns="0" rtlCol="0" anchor="t"/>
          <a:lstStyle/>
          <a:p>
            <a:pPr indent="0" marL="0">
              <a:spcAft>
                <a:spcPts val="500"/>
              </a:spcAft>
              <a:buNone/>
            </a:pPr>
            <a:r>
              <a:rPr lang="en-US" sz="1300" dirty="0">
                <a:solidFill>
                  <a:srgbClr val="1E2530"/>
                </a:solidFill>
                <a:latin typeface="Arial" pitchFamily="34" charset="0"/>
                <a:ea typeface="Arial" pitchFamily="34" charset="-122"/>
                <a:cs typeface="Arial" pitchFamily="34" charset="-120"/>
              </a:rPr>
              <a:t>Two SGLang workers, Qwen3-8B BF16, one 38,000 MiB HAMi slice each on one 80 GB GPU.</a:t>
            </a:r>
            <a:endParaRPr lang="en-US" sz="1300" dirty="0"/>
          </a:p>
        </p:txBody>
      </p:sp>
      <p:sp>
        <p:nvSpPr>
          <p:cNvPr id="12" name="Shape 9"/>
          <p:cNvSpPr/>
          <p:nvPr/>
        </p:nvSpPr>
        <p:spPr>
          <a:xfrm>
            <a:off x="8595360" y="4526280"/>
            <a:ext cx="3136392" cy="1920240"/>
          </a:xfrm>
          <a:prstGeom prst="roundRect">
            <a:avLst>
              <a:gd name="adj" fmla="val 5714"/>
            </a:avLst>
          </a:prstGeom>
          <a:solidFill>
            <a:srgbClr val="F3F0FF"/>
          </a:solidFill>
          <a:ln w="12700">
            <a:solidFill>
              <a:srgbClr val="F3F0FF"/>
            </a:solidFill>
            <a:prstDash val="solid"/>
          </a:ln>
        </p:spPr>
      </p:sp>
      <p:sp>
        <p:nvSpPr>
          <p:cNvPr id="13" name="Text 10"/>
          <p:cNvSpPr txBox="1"/>
          <p:nvPr/>
        </p:nvSpPr>
        <p:spPr>
          <a:xfrm>
            <a:off x="8778240" y="4663440"/>
            <a:ext cx="2770632" cy="347472"/>
          </a:xfrm>
          <a:prstGeom prst="rect">
            <a:avLst/>
          </a:prstGeom>
          <a:noFill/>
          <a:ln/>
        </p:spPr>
        <p:txBody>
          <a:bodyPr wrap="square" lIns="0" tIns="0" rIns="0" bIns="0" rtlCol="0" anchor="ctr"/>
          <a:lstStyle/>
          <a:p>
            <a:pPr indent="0" marL="0">
              <a:buNone/>
            </a:pPr>
            <a:r>
              <a:rPr lang="en-US" sz="1500" b="1" dirty="0">
                <a:solidFill>
                  <a:srgbClr val="6741D9"/>
                </a:solidFill>
                <a:latin typeface="Arial" pitchFamily="34" charset="0"/>
                <a:ea typeface="Arial" pitchFamily="34" charset="-122"/>
                <a:cs typeface="Arial" pitchFamily="34" charset="-120"/>
              </a:rPr>
              <a:t>Proof</a:t>
            </a:r>
            <a:endParaRPr lang="en-US" sz="1500" dirty="0"/>
          </a:p>
        </p:txBody>
      </p:sp>
      <p:sp>
        <p:nvSpPr>
          <p:cNvPr id="14" name="Text 11"/>
          <p:cNvSpPr txBox="1"/>
          <p:nvPr/>
        </p:nvSpPr>
        <p:spPr>
          <a:xfrm>
            <a:off x="8778240" y="5074920"/>
            <a:ext cx="2770632" cy="1261872"/>
          </a:xfrm>
          <a:prstGeom prst="rect">
            <a:avLst/>
          </a:prstGeom>
          <a:noFill/>
          <a:ln/>
        </p:spPr>
        <p:txBody>
          <a:bodyPr wrap="square" lIns="0" tIns="0" rIns="0" bIns="0" rtlCol="0" anchor="t"/>
          <a:lstStyle/>
          <a:p>
            <a:pPr indent="0" marL="0">
              <a:spcAft>
                <a:spcPts val="500"/>
              </a:spcAft>
              <a:buNone/>
            </a:pPr>
            <a:r>
              <a:rPr lang="en-US" sz="1300" dirty="0">
                <a:solidFill>
                  <a:srgbClr val="1E2530"/>
                </a:solidFill>
                <a:latin typeface="Arial" pitchFamily="34" charset="0"/>
                <a:ea typeface="Arial" pitchFamily="34" charset="-122"/>
                <a:cs typeface="Arial" pitchFamily="34" charset="-120"/>
              </a:rPr>
              <a:t>Prometheus scrapes the gateway and both workers. Grafana, four alerts and a notebook for Part 5.</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The app: one question = three calls</a:t>
            </a:r>
            <a:endParaRPr lang="en-US" sz="3000" dirty="0"/>
          </a:p>
        </p:txBody>
      </p:sp>
      <p:sp>
        <p:nvSpPr>
          <p:cNvPr id="3" name="Shape 1"/>
          <p:cNvSpPr/>
          <p:nvPr/>
        </p:nvSpPr>
        <p:spPr>
          <a:xfrm>
            <a:off x="10221163" y="384048"/>
            <a:ext cx="1513332"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221163" y="384048"/>
            <a:ext cx="151333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0 | Q1</a:t>
            </a:r>
            <a:endParaRPr lang="en-US" sz="1200" dirty="0"/>
          </a:p>
        </p:txBody>
      </p:sp>
      <p:pic>
        <p:nvPicPr>
          <p:cNvPr id="5" name="Image 0" descr="agent-turn.png">    </p:cNvPr>
          <p:cNvPicPr>
            <a:picLocks noChangeAspect="1"/>
          </p:cNvPicPr>
          <p:nvPr/>
        </p:nvPicPr>
        <p:blipFill>
          <a:blip r:embed="rId1"/>
          <a:stretch>
            <a:fillRect/>
          </a:stretch>
        </p:blipFill>
        <p:spPr>
          <a:xfrm>
            <a:off x="457200" y="1051560"/>
            <a:ext cx="7863840" cy="5020418"/>
          </a:xfrm>
          <a:prstGeom prst="rect">
            <a:avLst/>
          </a:prstGeom>
        </p:spPr>
      </p:pic>
      <p:sp>
        <p:nvSpPr>
          <p:cNvPr id="6" name="Shape 3"/>
          <p:cNvSpPr/>
          <p:nvPr/>
        </p:nvSpPr>
        <p:spPr>
          <a:xfrm>
            <a:off x="8595360" y="1051560"/>
            <a:ext cx="3136392" cy="1600200"/>
          </a:xfrm>
          <a:prstGeom prst="roundRect">
            <a:avLst>
              <a:gd name="adj" fmla="val 6857"/>
            </a:avLst>
          </a:prstGeom>
          <a:solidFill>
            <a:srgbClr val="E7F5FF"/>
          </a:solidFill>
          <a:ln w="12700">
            <a:solidFill>
              <a:srgbClr val="E7F5FF"/>
            </a:solidFill>
            <a:prstDash val="solid"/>
          </a:ln>
        </p:spPr>
      </p:sp>
      <p:sp>
        <p:nvSpPr>
          <p:cNvPr id="7" name="Text 4"/>
          <p:cNvSpPr txBox="1"/>
          <p:nvPr/>
        </p:nvSpPr>
        <p:spPr>
          <a:xfrm>
            <a:off x="8778240" y="1188720"/>
            <a:ext cx="2770632" cy="347472"/>
          </a:xfrm>
          <a:prstGeom prst="rect">
            <a:avLst/>
          </a:prstGeom>
          <a:noFill/>
          <a:ln/>
        </p:spPr>
        <p:txBody>
          <a:bodyPr wrap="square" lIns="0" tIns="0" rIns="0" bIns="0" rtlCol="0" anchor="ctr"/>
          <a:lstStyle/>
          <a:p>
            <a:pPr indent="0" marL="0">
              <a:buNone/>
            </a:pPr>
            <a:r>
              <a:rPr lang="en-US" sz="1500" b="1" dirty="0">
                <a:solidFill>
                  <a:srgbClr val="1971C2"/>
                </a:solidFill>
                <a:latin typeface="Arial" pitchFamily="34" charset="0"/>
                <a:ea typeface="Arial" pitchFamily="34" charset="-122"/>
                <a:cs typeface="Arial" pitchFamily="34" charset="-120"/>
              </a:rPr>
              <a:t>Track B agent</a:t>
            </a:r>
            <a:endParaRPr lang="en-US" sz="1500" dirty="0"/>
          </a:p>
        </p:txBody>
      </p:sp>
      <p:sp>
        <p:nvSpPr>
          <p:cNvPr id="8" name="Text 5"/>
          <p:cNvSpPr txBox="1"/>
          <p:nvPr/>
        </p:nvSpPr>
        <p:spPr>
          <a:xfrm>
            <a:off x="8778240" y="1600200"/>
            <a:ext cx="2770632" cy="941832"/>
          </a:xfrm>
          <a:prstGeom prst="rect">
            <a:avLst/>
          </a:prstGeom>
          <a:noFill/>
          <a:ln/>
        </p:spPr>
        <p:txBody>
          <a:bodyPr wrap="square" lIns="0" tIns="0" rIns="0" bIns="0" rtlCol="0" anchor="t"/>
          <a:lstStyle/>
          <a:p>
            <a:pPr indent="0" marL="0">
              <a:spcAft>
                <a:spcPts val="500"/>
              </a:spcAft>
              <a:buNone/>
            </a:pPr>
            <a:r>
              <a:rPr lang="en-US" sz="1300" dirty="0">
                <a:solidFill>
                  <a:srgbClr val="1E2530"/>
                </a:solidFill>
                <a:latin typeface="Arial" pitchFamily="34" charset="0"/>
                <a:ea typeface="Arial" pitchFamily="34" charset="-122"/>
                <a:cs typeface="Arial" pitchFamily="34" charset="-120"/>
              </a:rPr>
              <a:t>Router hands off to Tutor. Tutor calls lookup_course and answers with sources.</a:t>
            </a:r>
            <a:endParaRPr lang="en-US" sz="1300" dirty="0"/>
          </a:p>
        </p:txBody>
      </p:sp>
      <p:sp>
        <p:nvSpPr>
          <p:cNvPr id="9" name="Shape 6"/>
          <p:cNvSpPr/>
          <p:nvPr/>
        </p:nvSpPr>
        <p:spPr>
          <a:xfrm>
            <a:off x="8595360" y="2788920"/>
            <a:ext cx="3136392" cy="1737360"/>
          </a:xfrm>
          <a:prstGeom prst="roundRect">
            <a:avLst>
              <a:gd name="adj" fmla="val 6316"/>
            </a:avLst>
          </a:prstGeom>
          <a:solidFill>
            <a:srgbClr val="EBFBEE"/>
          </a:solidFill>
          <a:ln w="12700">
            <a:solidFill>
              <a:srgbClr val="EBFBEE"/>
            </a:solidFill>
            <a:prstDash val="solid"/>
          </a:ln>
        </p:spPr>
      </p:sp>
      <p:sp>
        <p:nvSpPr>
          <p:cNvPr id="10" name="Text 7"/>
          <p:cNvSpPr txBox="1"/>
          <p:nvPr/>
        </p:nvSpPr>
        <p:spPr>
          <a:xfrm>
            <a:off x="8778240" y="2926080"/>
            <a:ext cx="2770632" cy="347472"/>
          </a:xfrm>
          <a:prstGeom prst="rect">
            <a:avLst/>
          </a:prstGeom>
          <a:noFill/>
          <a:ln/>
        </p:spPr>
        <p:txBody>
          <a:bodyPr wrap="square" lIns="0" tIns="0" rIns="0" bIns="0" rtlCol="0" anchor="ctr"/>
          <a:lstStyle/>
          <a:p>
            <a:pPr indent="0" marL="0">
              <a:buNone/>
            </a:pPr>
            <a:r>
              <a:rPr lang="en-US" sz="1500" b="1" dirty="0">
                <a:solidFill>
                  <a:srgbClr val="2F9E44"/>
                </a:solidFill>
                <a:latin typeface="Arial" pitchFamily="34" charset="0"/>
                <a:ea typeface="Arial" pitchFamily="34" charset="-122"/>
                <a:cs typeface="Arial" pitchFamily="34" charset="-120"/>
              </a:rPr>
              <a:t>Shared vs unique</a:t>
            </a:r>
            <a:endParaRPr lang="en-US" sz="1500" dirty="0"/>
          </a:p>
        </p:txBody>
      </p:sp>
      <p:sp>
        <p:nvSpPr>
          <p:cNvPr id="11" name="Text 8"/>
          <p:cNvSpPr txBox="1"/>
          <p:nvPr/>
        </p:nvSpPr>
        <p:spPr>
          <a:xfrm>
            <a:off x="8778240" y="3337560"/>
            <a:ext cx="2770632" cy="1078992"/>
          </a:xfrm>
          <a:prstGeom prst="rect">
            <a:avLst/>
          </a:prstGeom>
          <a:noFill/>
          <a:ln/>
        </p:spPr>
        <p:txBody>
          <a:bodyPr wrap="square" lIns="0" tIns="0" rIns="0" bIns="0" rtlCol="0" anchor="t"/>
          <a:lstStyle/>
          <a:p>
            <a:pPr indent="0" marL="0">
              <a:spcAft>
                <a:spcPts val="500"/>
              </a:spcAft>
              <a:buNone/>
            </a:pPr>
            <a:r>
              <a:rPr lang="en-US" sz="1300" dirty="0">
                <a:solidFill>
                  <a:srgbClr val="1E2530"/>
                </a:solidFill>
                <a:latin typeface="Arial" pitchFamily="34" charset="0"/>
                <a:ea typeface="Arial" pitchFamily="34" charset="-122"/>
                <a:cs typeface="Arial" pitchFamily="34" charset="-120"/>
              </a:rPr>
              <a:t>Shared: system prompts and tool schema (~97 % prefix-cache hits).</a:t>
            </a:r>
            <a:endParaRPr lang="en-US" sz="1300" dirty="0"/>
          </a:p>
          <a:p>
            <a:pPr indent="0" marL="0">
              <a:spcAft>
                <a:spcPts val="500"/>
              </a:spcAft>
              <a:buNone/>
            </a:pPr>
            <a:r>
              <a:rPr lang="en-US" sz="1300" dirty="0">
                <a:solidFill>
                  <a:srgbClr val="1E2530"/>
                </a:solidFill>
                <a:latin typeface="Arial" pitchFamily="34" charset="0"/>
                <a:ea typeface="Arial" pitchFamily="34" charset="-122"/>
                <a:cs typeface="Arial" pitchFamily="34" charset="-120"/>
              </a:rPr>
              <a:t>Unique: question, tool call, passages, answer.</a:t>
            </a:r>
            <a:endParaRPr lang="en-US" sz="1300" dirty="0"/>
          </a:p>
        </p:txBody>
      </p:sp>
      <p:sp>
        <p:nvSpPr>
          <p:cNvPr id="12" name="Shape 9"/>
          <p:cNvSpPr/>
          <p:nvPr/>
        </p:nvSpPr>
        <p:spPr>
          <a:xfrm>
            <a:off x="8595360" y="4663440"/>
            <a:ext cx="3136392" cy="1783080"/>
          </a:xfrm>
          <a:prstGeom prst="roundRect">
            <a:avLst>
              <a:gd name="adj" fmla="val 6154"/>
            </a:avLst>
          </a:prstGeom>
          <a:solidFill>
            <a:srgbClr val="FFF4E6"/>
          </a:solidFill>
          <a:ln w="12700">
            <a:solidFill>
              <a:srgbClr val="FFF4E6"/>
            </a:solidFill>
            <a:prstDash val="solid"/>
          </a:ln>
        </p:spPr>
      </p:sp>
      <p:sp>
        <p:nvSpPr>
          <p:cNvPr id="13" name="Text 10"/>
          <p:cNvSpPr txBox="1"/>
          <p:nvPr/>
        </p:nvSpPr>
        <p:spPr>
          <a:xfrm>
            <a:off x="8778240" y="4800600"/>
            <a:ext cx="2770632" cy="347472"/>
          </a:xfrm>
          <a:prstGeom prst="rect">
            <a:avLst/>
          </a:prstGeom>
          <a:noFill/>
          <a:ln/>
        </p:spPr>
        <p:txBody>
          <a:bodyPr wrap="square" lIns="0" tIns="0" rIns="0" bIns="0" rtlCol="0" anchor="ctr"/>
          <a:lstStyle/>
          <a:p>
            <a:pPr indent="0" marL="0">
              <a:buNone/>
            </a:pPr>
            <a:r>
              <a:rPr lang="en-US" sz="1500" b="1" dirty="0">
                <a:solidFill>
                  <a:srgbClr val="E67700"/>
                </a:solidFill>
                <a:latin typeface="Arial" pitchFamily="34" charset="0"/>
                <a:ea typeface="Arial" pitchFamily="34" charset="-122"/>
                <a:cs typeface="Arial" pitchFamily="34" charset="-120"/>
              </a:rPr>
              <a:t>Interactive vs batch</a:t>
            </a:r>
            <a:endParaRPr lang="en-US" sz="1500" dirty="0"/>
          </a:p>
        </p:txBody>
      </p:sp>
      <p:sp>
        <p:nvSpPr>
          <p:cNvPr id="14" name="Text 11"/>
          <p:cNvSpPr txBox="1"/>
          <p:nvPr/>
        </p:nvSpPr>
        <p:spPr>
          <a:xfrm>
            <a:off x="8778240" y="5212080"/>
            <a:ext cx="2770632" cy="1124712"/>
          </a:xfrm>
          <a:prstGeom prst="rect">
            <a:avLst/>
          </a:prstGeom>
          <a:noFill/>
          <a:ln/>
        </p:spPr>
        <p:txBody>
          <a:bodyPr wrap="square" lIns="0" tIns="0" rIns="0" bIns="0" rtlCol="0" anchor="t"/>
          <a:lstStyle/>
          <a:p>
            <a:pPr indent="0" marL="0">
              <a:spcAft>
                <a:spcPts val="500"/>
              </a:spcAft>
              <a:buNone/>
            </a:pPr>
            <a:r>
              <a:rPr lang="en-US" sz="1300" dirty="0">
                <a:solidFill>
                  <a:srgbClr val="1E2530"/>
                </a:solidFill>
                <a:latin typeface="Arial" pitchFamily="34" charset="0"/>
                <a:ea typeface="Arial" pitchFamily="34" charset="-122"/>
                <a:cs typeface="Arial" pitchFamily="34" charset="-120"/>
              </a:rPr>
              <a:t>App sends X-Request-Class: interactive and X-Tenant. Batch = revision-notes sweep from Locust.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The cluster: one GPU host, two systems</a:t>
            </a:r>
            <a:endParaRPr lang="en-US" sz="3000" dirty="0"/>
          </a:p>
        </p:txBody>
      </p:sp>
      <p:sp>
        <p:nvSpPr>
          <p:cNvPr id="3" name="Shape 1"/>
          <p:cNvSpPr/>
          <p:nvPr/>
        </p:nvSpPr>
        <p:spPr>
          <a:xfrm>
            <a:off x="10221163" y="384048"/>
            <a:ext cx="1513332"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221163" y="384048"/>
            <a:ext cx="151333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2 | Q9</a:t>
            </a:r>
            <a:endParaRPr lang="en-US" sz="1200" dirty="0"/>
          </a:p>
        </p:txBody>
      </p:sp>
      <p:pic>
        <p:nvPicPr>
          <p:cNvPr id="5" name="Image 0" descr="cluster.png">    </p:cNvPr>
          <p:cNvPicPr>
            <a:picLocks noChangeAspect="1"/>
          </p:cNvPicPr>
          <p:nvPr/>
        </p:nvPicPr>
        <p:blipFill>
          <a:blip r:embed="rId1"/>
          <a:stretch>
            <a:fillRect/>
          </a:stretch>
        </p:blipFill>
        <p:spPr>
          <a:xfrm>
            <a:off x="1180948" y="960120"/>
            <a:ext cx="9829800" cy="557388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Cluster decisions - and what I rejected</a:t>
            </a:r>
            <a:endParaRPr lang="en-US" sz="3000" dirty="0"/>
          </a:p>
        </p:txBody>
      </p:sp>
      <p:sp>
        <p:nvSpPr>
          <p:cNvPr id="3" name="Shape 1"/>
          <p:cNvSpPr/>
          <p:nvPr/>
        </p:nvSpPr>
        <p:spPr>
          <a:xfrm>
            <a:off x="10637215" y="384048"/>
            <a:ext cx="1097280"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637215" y="384048"/>
            <a:ext cx="10972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2</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1325880"/>
                <a:gridCol w="2834640"/>
                <a:gridCol w="3931920"/>
                <a:gridCol w="3182112"/>
              </a:tblGrid>
              <a:tr h="566928">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Decision</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Choice</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Why</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Rejected</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r>
              <a:tr h="566928">
                <a:tc>
                  <a:txBody>
                    <a:bodyPr/>
                    <a:lstStyle/>
                    <a:p>
                      <a:pPr indent="0" marL="0">
                        <a:buNone/>
                      </a:pPr>
                      <a:r>
                        <a:rPr lang="en-US" sz="1200" b="1" dirty="0">
                          <a:solidFill>
                            <a:srgbClr val="1E2530"/>
                          </a:solidFill>
                          <a:latin typeface="Arial" pitchFamily="34" charset="0"/>
                          <a:ea typeface="Arial" pitchFamily="34" charset="-122"/>
                          <a:cs typeface="Arial" pitchFamily="34" charset="-120"/>
                        </a:rPr>
                        <a:t>GPU</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80 GB: H100 SXM5, A100 80GB</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One 80 GB card holds two 8B BF16 replicas with a useful KV pool each</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A10 24 GB (one replica), A100 40 GB (~2 GiB KV per slice), GH200 (ARM64)</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530"/>
                          </a:solidFill>
                          <a:latin typeface="Arial" pitchFamily="34" charset="0"/>
                          <a:ea typeface="Arial" pitchFamily="34" charset="-122"/>
                          <a:cs typeface="Arial" pitchFamily="34" charset="-120"/>
                        </a:rPr>
                        <a:t>Model</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Qwen3-8B BF16, thinking off</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Reliable tool calls with the qwen25 parser; GQA gives 144 KiB per token</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No GQA: 4x the KV, 3.5 full sequences per slice</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566928">
                <a:tc>
                  <a:txBody>
                    <a:bodyPr/>
                    <a:lstStyle/>
                    <a:p>
                      <a:pPr indent="0" marL="0">
                        <a:buNone/>
                      </a:pPr>
                      <a:r>
                        <a:rPr lang="en-US" sz="1200" b="1" dirty="0">
                          <a:solidFill>
                            <a:srgbClr val="1E2530"/>
                          </a:solidFill>
                          <a:latin typeface="Arial" pitchFamily="34" charset="0"/>
                          <a:ea typeface="Arial" pitchFamily="34" charset="-122"/>
                          <a:cs typeface="Arial" pitchFamily="34" charset="-120"/>
                        </a:rPr>
                        <a:t>Topology</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2 colocated replicas, HAMi slices 2 x 38,000 MiB</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Prefix is cached, decode is the cost; no hop inside a request</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Prefill/decode split: a KV move per request</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530"/>
                          </a:solidFill>
                          <a:latin typeface="Arial" pitchFamily="34" charset="0"/>
                          <a:ea typeface="Arial" pitchFamily="34" charset="-122"/>
                          <a:cs typeface="Arial" pitchFamily="34" charset="-120"/>
                        </a:rPr>
                        <a:t>Concurrency</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max-running-requests 8, context 8,192, chunked prefill 2,048</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Decode CUDA graphs for 1, 2, 4, 8; protects time per token</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Higher cap: not measured yet</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566928">
                <a:tc>
                  <a:txBody>
                    <a:bodyPr/>
                    <a:lstStyle/>
                    <a:p>
                      <a:pPr indent="0" marL="0">
                        <a:buNone/>
                      </a:pPr>
                      <a:r>
                        <a:rPr lang="en-US" sz="1200" b="1" dirty="0">
                          <a:solidFill>
                            <a:srgbClr val="1E2530"/>
                          </a:solidFill>
                          <a:latin typeface="Arial" pitchFamily="34" charset="0"/>
                          <a:ea typeface="Arial" pitchFamily="34" charset="-122"/>
                          <a:cs typeface="Arial" pitchFamily="34" charset="-120"/>
                        </a:rPr>
                        <a:t>Hop backend</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recompute (named, counted)</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A hop costs ~40-55 ms once; 2 hops per 3 minutes</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Mooncake: saves ~0.1 s per 3 min, needs &gt; 5.5 GB/s</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E2530"/>
                          </a:solidFill>
                          <a:latin typeface="Arial" pitchFamily="34" charset="0"/>
                          <a:ea typeface="Arial" pitchFamily="34" charset="-122"/>
                          <a:cs typeface="Arial" pitchFamily="34" charset="-120"/>
                        </a:rPr>
                        <a:t>Overflow</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Qwen3-8B on one owned 24 GB GPU</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Same weights and tool parser; we keep KV, warmup, metrics. Limiter: its KV pool</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Hosted APIs: no KV, workers or warmup of our own</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566928">
                <a:tc>
                  <a:txBody>
                    <a:bodyPr/>
                    <a:lstStyle/>
                    <a:p>
                      <a:pPr indent="0" marL="0">
                        <a:buNone/>
                      </a:pPr>
                      <a:r>
                        <a:rPr lang="en-US" sz="1200" b="1" dirty="0">
                          <a:solidFill>
                            <a:srgbClr val="1E2530"/>
                          </a:solidFill>
                          <a:latin typeface="Arial" pitchFamily="34" charset="0"/>
                          <a:ea typeface="Arial" pitchFamily="34" charset="-122"/>
                          <a:cs typeface="Arial" pitchFamily="34" charset="-120"/>
                        </a:rPr>
                        <a:t>Scaling</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None</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If scaling: decode slots are hot, prefill is cached</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A same-size replica on the same GPU</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Capacity on paper - and what limited first</a:t>
            </a:r>
            <a:endParaRPr lang="en-US" sz="3000" dirty="0"/>
          </a:p>
        </p:txBody>
      </p:sp>
      <p:sp>
        <p:nvSpPr>
          <p:cNvPr id="3" name="Shape 1"/>
          <p:cNvSpPr/>
          <p:nvPr/>
        </p:nvSpPr>
        <p:spPr>
          <a:xfrm>
            <a:off x="10125151" y="384048"/>
            <a:ext cx="1609344"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125151" y="384048"/>
            <a:ext cx="160934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1 | Q10</a:t>
            </a:r>
            <a:endParaRPr lang="en-US" sz="1200" dirty="0"/>
          </a:p>
        </p:txBody>
      </p:sp>
      <p:pic>
        <p:nvPicPr>
          <p:cNvPr id="5" name="Image 0" descr="capacity.png">    </p:cNvPr>
          <p:cNvPicPr>
            <a:picLocks noChangeAspect="1"/>
          </p:cNvPicPr>
          <p:nvPr/>
        </p:nvPicPr>
        <p:blipFill>
          <a:blip r:embed="rId1"/>
          <a:stretch>
            <a:fillRect/>
          </a:stretch>
        </p:blipFill>
        <p:spPr>
          <a:xfrm>
            <a:off x="1158088" y="1005840"/>
            <a:ext cx="9875520" cy="3863488"/>
          </a:xfrm>
          <a:prstGeom prst="rect">
            <a:avLst/>
          </a:prstGeom>
        </p:spPr>
      </p:pic>
      <p:sp>
        <p:nvSpPr>
          <p:cNvPr id="6" name="Shape 3"/>
          <p:cNvSpPr/>
          <p:nvPr/>
        </p:nvSpPr>
        <p:spPr>
          <a:xfrm>
            <a:off x="457200" y="5052208"/>
            <a:ext cx="3566160" cy="1485752"/>
          </a:xfrm>
          <a:prstGeom prst="roundRect">
            <a:avLst>
              <a:gd name="adj" fmla="val 7385"/>
            </a:avLst>
          </a:prstGeom>
          <a:solidFill>
            <a:srgbClr val="E7F5FF"/>
          </a:solidFill>
          <a:ln w="12700">
            <a:solidFill>
              <a:srgbClr val="E7F5FF"/>
            </a:solidFill>
            <a:prstDash val="solid"/>
          </a:ln>
        </p:spPr>
      </p:sp>
      <p:sp>
        <p:nvSpPr>
          <p:cNvPr id="7" name="Text 4"/>
          <p:cNvSpPr txBox="1"/>
          <p:nvPr/>
        </p:nvSpPr>
        <p:spPr>
          <a:xfrm>
            <a:off x="594360" y="5143648"/>
            <a:ext cx="3291840" cy="742876"/>
          </a:xfrm>
          <a:prstGeom prst="rect">
            <a:avLst/>
          </a:prstGeom>
          <a:noFill/>
          <a:ln/>
        </p:spPr>
        <p:txBody>
          <a:bodyPr wrap="square" lIns="0" tIns="0" rIns="0" bIns="0" rtlCol="0" anchor="ctr"/>
          <a:lstStyle/>
          <a:p>
            <a:pPr algn="ctr" indent="0" marL="0">
              <a:buNone/>
            </a:pPr>
            <a:r>
              <a:rPr lang="en-US" sz="2400" b="1" dirty="0">
                <a:solidFill>
                  <a:srgbClr val="1971C2"/>
                </a:solidFill>
                <a:latin typeface="Arial" pitchFamily="34" charset="0"/>
                <a:ea typeface="Arial" pitchFamily="34" charset="-122"/>
                <a:cs typeface="Arial" pitchFamily="34" charset="-120"/>
              </a:rPr>
              <a:t>144 KiB / token</a:t>
            </a:r>
            <a:endParaRPr lang="en-US" sz="2400" dirty="0"/>
          </a:p>
        </p:txBody>
      </p:sp>
      <p:sp>
        <p:nvSpPr>
          <p:cNvPr id="8" name="Text 5"/>
          <p:cNvSpPr txBox="1"/>
          <p:nvPr/>
        </p:nvSpPr>
        <p:spPr>
          <a:xfrm>
            <a:off x="594360" y="5886524"/>
            <a:ext cx="3291840" cy="559996"/>
          </a:xfrm>
          <a:prstGeom prst="rect">
            <a:avLst/>
          </a:prstGeom>
          <a:noFill/>
          <a:ln/>
        </p:spPr>
        <p:txBody>
          <a:bodyPr wrap="square" lIns="0" tIns="0" rIns="0" bIns="0" rtlCol="0" anchor="t"/>
          <a:lstStyle/>
          <a:p>
            <a:pPr algn="ctr" indent="0" marL="0">
              <a:buNone/>
            </a:pPr>
            <a:r>
              <a:rPr lang="en-US" sz="1200" dirty="0">
                <a:solidFill>
                  <a:srgbClr val="1E2530"/>
                </a:solidFill>
                <a:latin typeface="Arial" pitchFamily="34" charset="0"/>
                <a:ea typeface="Arial" pitchFamily="34" charset="-122"/>
                <a:cs typeface="Arial" pitchFamily="34" charset="-120"/>
              </a:rPr>
              <a:t>2 x 36 layers x 8 KV heads x 128 x 2 bytes</a:t>
            </a:r>
            <a:endParaRPr lang="en-US" sz="1200" dirty="0"/>
          </a:p>
        </p:txBody>
      </p:sp>
      <p:sp>
        <p:nvSpPr>
          <p:cNvPr id="9" name="Shape 6"/>
          <p:cNvSpPr/>
          <p:nvPr/>
        </p:nvSpPr>
        <p:spPr>
          <a:xfrm>
            <a:off x="4297680" y="5052208"/>
            <a:ext cx="3566160" cy="1485752"/>
          </a:xfrm>
          <a:prstGeom prst="roundRect">
            <a:avLst>
              <a:gd name="adj" fmla="val 7385"/>
            </a:avLst>
          </a:prstGeom>
          <a:solidFill>
            <a:srgbClr val="FFF4E6"/>
          </a:solidFill>
          <a:ln w="12700">
            <a:solidFill>
              <a:srgbClr val="FFF4E6"/>
            </a:solidFill>
            <a:prstDash val="solid"/>
          </a:ln>
        </p:spPr>
      </p:sp>
      <p:sp>
        <p:nvSpPr>
          <p:cNvPr id="10" name="Text 7"/>
          <p:cNvSpPr txBox="1"/>
          <p:nvPr/>
        </p:nvSpPr>
        <p:spPr>
          <a:xfrm>
            <a:off x="4434840" y="5143648"/>
            <a:ext cx="3291840" cy="742876"/>
          </a:xfrm>
          <a:prstGeom prst="rect">
            <a:avLst/>
          </a:prstGeom>
          <a:noFill/>
          <a:ln/>
        </p:spPr>
        <p:txBody>
          <a:bodyPr wrap="square" lIns="0" tIns="0" rIns="0" bIns="0" rtlCol="0" anchor="ctr"/>
          <a:lstStyle/>
          <a:p>
            <a:pPr algn="ctr" indent="0" marL="0">
              <a:buNone/>
            </a:pPr>
            <a:r>
              <a:rPr lang="en-US" sz="2400" b="1" dirty="0">
                <a:solidFill>
                  <a:srgbClr val="E67700"/>
                </a:solidFill>
                <a:latin typeface="Arial" pitchFamily="34" charset="0"/>
                <a:ea typeface="Arial" pitchFamily="34" charset="-122"/>
                <a:cs typeface="Arial" pitchFamily="34" charset="-120"/>
              </a:rPr>
              <a:t>115,299 / 115,916</a:t>
            </a:r>
            <a:endParaRPr lang="en-US" sz="2400" dirty="0"/>
          </a:p>
        </p:txBody>
      </p:sp>
      <p:sp>
        <p:nvSpPr>
          <p:cNvPr id="11" name="Text 8"/>
          <p:cNvSpPr txBox="1"/>
          <p:nvPr/>
        </p:nvSpPr>
        <p:spPr>
          <a:xfrm>
            <a:off x="4434840" y="5886524"/>
            <a:ext cx="3291840" cy="559996"/>
          </a:xfrm>
          <a:prstGeom prst="rect">
            <a:avLst/>
          </a:prstGeom>
          <a:noFill/>
          <a:ln/>
        </p:spPr>
        <p:txBody>
          <a:bodyPr wrap="square" lIns="0" tIns="0" rIns="0" bIns="0" rtlCol="0" anchor="t"/>
          <a:lstStyle/>
          <a:p>
            <a:pPr algn="ctr" indent="0" marL="0">
              <a:buNone/>
            </a:pPr>
            <a:r>
              <a:rPr lang="en-US" sz="1200" dirty="0">
                <a:solidFill>
                  <a:srgbClr val="1E2530"/>
                </a:solidFill>
                <a:latin typeface="Arial" pitchFamily="34" charset="0"/>
                <a:ea typeface="Arial" pitchFamily="34" charset="-122"/>
                <a:cs typeface="Arial" pitchFamily="34" charset="-120"/>
              </a:rPr>
              <a:t>KV tokens per worker, H100 / A100 (SGLang log)</a:t>
            </a:r>
            <a:endParaRPr lang="en-US" sz="1200" dirty="0"/>
          </a:p>
        </p:txBody>
      </p:sp>
      <p:sp>
        <p:nvSpPr>
          <p:cNvPr id="12" name="Shape 9"/>
          <p:cNvSpPr/>
          <p:nvPr/>
        </p:nvSpPr>
        <p:spPr>
          <a:xfrm>
            <a:off x="8138160" y="5052208"/>
            <a:ext cx="3593592" cy="1485752"/>
          </a:xfrm>
          <a:prstGeom prst="roundRect">
            <a:avLst>
              <a:gd name="adj" fmla="val 7385"/>
            </a:avLst>
          </a:prstGeom>
          <a:solidFill>
            <a:srgbClr val="FFF5F5"/>
          </a:solidFill>
          <a:ln w="12700">
            <a:solidFill>
              <a:srgbClr val="FFF5F5"/>
            </a:solidFill>
            <a:prstDash val="solid"/>
          </a:ln>
        </p:spPr>
      </p:sp>
      <p:sp>
        <p:nvSpPr>
          <p:cNvPr id="13" name="Text 10"/>
          <p:cNvSpPr txBox="1"/>
          <p:nvPr/>
        </p:nvSpPr>
        <p:spPr>
          <a:xfrm>
            <a:off x="8275320" y="5143648"/>
            <a:ext cx="3319272" cy="742876"/>
          </a:xfrm>
          <a:prstGeom prst="rect">
            <a:avLst/>
          </a:prstGeom>
          <a:noFill/>
          <a:ln/>
        </p:spPr>
        <p:txBody>
          <a:bodyPr wrap="square" lIns="0" tIns="0" rIns="0" bIns="0" rtlCol="0" anchor="ctr"/>
          <a:lstStyle/>
          <a:p>
            <a:pPr algn="ctr" indent="0" marL="0">
              <a:buNone/>
            </a:pPr>
            <a:r>
              <a:rPr lang="en-US" sz="2400" b="1" dirty="0">
                <a:solidFill>
                  <a:srgbClr val="C92A2A"/>
                </a:solidFill>
                <a:latin typeface="Arial" pitchFamily="34" charset="0"/>
                <a:ea typeface="Arial" pitchFamily="34" charset="-122"/>
                <a:cs typeface="Arial" pitchFamily="34" charset="-120"/>
              </a:rPr>
              <a:t>8 &lt; 14-57</a:t>
            </a:r>
            <a:endParaRPr lang="en-US" sz="2400" dirty="0"/>
          </a:p>
        </p:txBody>
      </p:sp>
      <p:sp>
        <p:nvSpPr>
          <p:cNvPr id="14" name="Text 11"/>
          <p:cNvSpPr txBox="1"/>
          <p:nvPr/>
        </p:nvSpPr>
        <p:spPr>
          <a:xfrm>
            <a:off x="8275320" y="5886524"/>
            <a:ext cx="3319272" cy="559996"/>
          </a:xfrm>
          <a:prstGeom prst="rect">
            <a:avLst/>
          </a:prstGeom>
          <a:noFill/>
          <a:ln/>
        </p:spPr>
        <p:txBody>
          <a:bodyPr wrap="square" lIns="0" tIns="0" rIns="0" bIns="0" rtlCol="0" anchor="t"/>
          <a:lstStyle/>
          <a:p>
            <a:pPr algn="ctr" indent="0" marL="0">
              <a:buNone/>
            </a:pPr>
            <a:r>
              <a:rPr lang="en-US" sz="1200" dirty="0">
                <a:solidFill>
                  <a:srgbClr val="1E2530"/>
                </a:solidFill>
                <a:latin typeface="Arial" pitchFamily="34" charset="0"/>
                <a:ea typeface="Arial" pitchFamily="34" charset="-122"/>
                <a:cs typeface="Arial" pitchFamily="34" charset="-120"/>
              </a:rPr>
              <a:t>running cap vs what KV allows: the scheduler binds first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The pipeline: the brief vs our gateway</a:t>
            </a:r>
            <a:endParaRPr lang="en-US" sz="3000" dirty="0"/>
          </a:p>
        </p:txBody>
      </p:sp>
      <p:sp>
        <p:nvSpPr>
          <p:cNvPr id="3" name="Shape 1"/>
          <p:cNvSpPr/>
          <p:nvPr/>
        </p:nvSpPr>
        <p:spPr>
          <a:xfrm>
            <a:off x="9933127" y="384048"/>
            <a:ext cx="1801368"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9933127" y="384048"/>
            <a:ext cx="180136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3, 7 | Q2</a:t>
            </a:r>
            <a:endParaRPr lang="en-US" sz="1200" dirty="0"/>
          </a:p>
        </p:txBody>
      </p:sp>
      <p:pic>
        <p:nvPicPr>
          <p:cNvPr id="5" name="Image 0" descr="shipping-new.png">    </p:cNvPr>
          <p:cNvPicPr>
            <a:picLocks noChangeAspect="1"/>
          </p:cNvPicPr>
          <p:nvPr/>
        </p:nvPicPr>
        <p:blipFill>
          <a:blip r:embed="rId1"/>
          <a:stretch>
            <a:fillRect/>
          </a:stretch>
        </p:blipFill>
        <p:spPr>
          <a:xfrm>
            <a:off x="457200" y="1005840"/>
            <a:ext cx="6080760" cy="5602986"/>
          </a:xfrm>
          <a:prstGeom prst="rect">
            <a:avLst/>
          </a:prstGeom>
        </p:spPr>
      </p:pic>
      <p:sp>
        <p:nvSpPr>
          <p:cNvPr id="6" name="Text 3"/>
          <p:cNvSpPr txBox="1"/>
          <p:nvPr/>
        </p:nvSpPr>
        <p:spPr>
          <a:xfrm>
            <a:off x="6858000" y="1005840"/>
            <a:ext cx="4873752" cy="365760"/>
          </a:xfrm>
          <a:prstGeom prst="rect">
            <a:avLst/>
          </a:prstGeom>
          <a:noFill/>
          <a:ln/>
        </p:spPr>
        <p:txBody>
          <a:bodyPr wrap="square" lIns="0" tIns="0" rIns="0" bIns="0" rtlCol="0" anchor="ctr"/>
          <a:lstStyle/>
          <a:p>
            <a:pPr indent="0" marL="0">
              <a:buNone/>
            </a:pPr>
            <a:r>
              <a:rPr lang="en-US" sz="1800" b="1" dirty="0">
                <a:solidFill>
                  <a:srgbClr val="1E2530"/>
                </a:solidFill>
                <a:latin typeface="Arial" pitchFamily="34" charset="0"/>
                <a:ea typeface="Arial" pitchFamily="34" charset="-122"/>
                <a:cs typeface="Arial" pitchFamily="34" charset="-120"/>
              </a:rPr>
              <a:t>What dies where</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0" y="1463040"/>
          <a:ext cx="4873752" cy="914400"/>
        </p:xfrm>
        <a:graphic>
          <a:graphicData uri="http://schemas.openxmlformats.org/drawingml/2006/table">
            <a:tbl>
              <a:tblPr/>
              <a:tblGrid>
                <a:gridCol w="1463040"/>
                <a:gridCol w="640080"/>
                <a:gridCol w="2770632"/>
              </a:tblGrid>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Stage</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Code</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Reason</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r>
              <a:tr h="0">
                <a:tc>
                  <a:txBody>
                    <a:bodyPr/>
                    <a:lstStyle/>
                    <a:p>
                      <a:pPr indent="0" marL="0">
                        <a:buNone/>
                      </a:pPr>
                      <a:r>
                        <a:rPr lang="en-US" sz="1150" b="1" dirty="0">
                          <a:solidFill>
                            <a:srgbClr val="1E2530"/>
                          </a:solidFill>
                          <a:latin typeface="Arial" pitchFamily="34" charset="0"/>
                          <a:ea typeface="Arial" pitchFamily="34" charset="-122"/>
                          <a:cs typeface="Arial" pitchFamily="34" charset="-120"/>
                        </a:rPr>
                        <a:t>Guard</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400</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bad_max_tokens, prompt_too_long</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E2530"/>
                          </a:solidFill>
                          <a:latin typeface="Arial" pitchFamily="34" charset="0"/>
                          <a:ea typeface="Arial" pitchFamily="34" charset="-122"/>
                          <a:cs typeface="Arial" pitchFamily="34" charset="-120"/>
                        </a:rPr>
                        <a:t>Tenant window</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429</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tenant_tokens (+Retry-After), stays</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0">
                <a:tc>
                  <a:txBody>
                    <a:bodyPr/>
                    <a:lstStyle/>
                    <a:p>
                      <a:pPr indent="0" marL="0">
                        <a:buNone/>
                      </a:pPr>
                      <a:r>
                        <a:rPr lang="en-US" sz="1150" b="1" dirty="0">
                          <a:solidFill>
                            <a:srgbClr val="1E2530"/>
                          </a:solidFill>
                          <a:latin typeface="Arial" pitchFamily="34" charset="0"/>
                          <a:ea typeface="Arial" pitchFamily="34" charset="-122"/>
                          <a:cs typeface="Arial" pitchFamily="34" charset="-120"/>
                        </a:rPr>
                        <a:t>Admit</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503</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no_eligible_workers, kv_pressure</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E2530"/>
                          </a:solidFill>
                          <a:latin typeface="Arial" pitchFamily="34" charset="0"/>
                          <a:ea typeface="Arial" pitchFamily="34" charset="-122"/>
                          <a:cs typeface="Arial" pitchFamily="34" charset="-120"/>
                        </a:rPr>
                        <a:t>Queue</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503</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queue_full (batch: at half the queue)</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0">
                <a:tc>
                  <a:txBody>
                    <a:bodyPr/>
                    <a:lstStyle/>
                    <a:p>
                      <a:pPr indent="0" marL="0">
                        <a:buNone/>
                      </a:pPr>
                      <a:r>
                        <a:rPr lang="en-US" sz="1150" b="1" dirty="0">
                          <a:solidFill>
                            <a:srgbClr val="1E2530"/>
                          </a:solidFill>
                          <a:latin typeface="Arial" pitchFamily="34" charset="0"/>
                          <a:ea typeface="Arial" pitchFamily="34" charset="-122"/>
                          <a:cs typeface="Arial" pitchFamily="34" charset="-120"/>
                        </a:rPr>
                        <a:t>Queue deadline</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504</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timeout_queue (5 s, batch 30 s)</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sp>
        <p:nvSpPr>
          <p:cNvPr id="8" name="Shape 4"/>
          <p:cNvSpPr/>
          <p:nvPr/>
        </p:nvSpPr>
        <p:spPr>
          <a:xfrm>
            <a:off x="6858000" y="4114800"/>
            <a:ext cx="4873752" cy="2331720"/>
          </a:xfrm>
          <a:prstGeom prst="roundRect">
            <a:avLst>
              <a:gd name="adj" fmla="val 4706"/>
            </a:avLst>
          </a:prstGeom>
          <a:solidFill>
            <a:srgbClr val="FFF4E6"/>
          </a:solidFill>
          <a:ln w="12700">
            <a:solidFill>
              <a:srgbClr val="FFF4E6"/>
            </a:solidFill>
            <a:prstDash val="solid"/>
          </a:ln>
        </p:spPr>
      </p:sp>
      <p:sp>
        <p:nvSpPr>
          <p:cNvPr id="9" name="Text 5"/>
          <p:cNvSpPr txBox="1"/>
          <p:nvPr/>
        </p:nvSpPr>
        <p:spPr>
          <a:xfrm>
            <a:off x="7040880" y="4251960"/>
            <a:ext cx="4507992" cy="347472"/>
          </a:xfrm>
          <a:prstGeom prst="rect">
            <a:avLst/>
          </a:prstGeom>
          <a:noFill/>
          <a:ln/>
        </p:spPr>
        <p:txBody>
          <a:bodyPr wrap="square" lIns="0" tIns="0" rIns="0" bIns="0" rtlCol="0" anchor="ctr"/>
          <a:lstStyle/>
          <a:p>
            <a:pPr indent="0" marL="0">
              <a:buNone/>
            </a:pPr>
            <a:r>
              <a:rPr lang="en-US" sz="1500" b="1" dirty="0">
                <a:solidFill>
                  <a:srgbClr val="E67700"/>
                </a:solidFill>
                <a:latin typeface="Arial" pitchFamily="34" charset="0"/>
                <a:ea typeface="Arial" pitchFamily="34" charset="-122"/>
                <a:cs typeface="Arial" pitchFamily="34" charset="-120"/>
              </a:rPr>
              <a:t>The overflow gate sits last</a:t>
            </a:r>
            <a:endParaRPr lang="en-US" sz="1500" dirty="0"/>
          </a:p>
        </p:txBody>
      </p:sp>
      <p:sp>
        <p:nvSpPr>
          <p:cNvPr id="10" name="Text 6"/>
          <p:cNvSpPr txBox="1"/>
          <p:nvPr/>
        </p:nvSpPr>
        <p:spPr>
          <a:xfrm>
            <a:off x="7040880" y="4663440"/>
            <a:ext cx="4507992" cy="1673352"/>
          </a:xfrm>
          <a:prstGeom prst="rect">
            <a:avLst/>
          </a:prstGeom>
          <a:noFill/>
          <a:ln/>
        </p:spPr>
        <p:txBody>
          <a:bodyPr wrap="square" lIns="0" tIns="0" rIns="0" bIns="0" rtlCol="0" anchor="t"/>
          <a:lstStyle/>
          <a:p>
            <a:pPr indent="0" marL="0">
              <a:spcAft>
                <a:spcPts val="500"/>
              </a:spcAft>
              <a:buNone/>
            </a:pPr>
            <a:r>
              <a:rPr lang="en-US" sz="1250" dirty="0">
                <a:solidFill>
                  <a:srgbClr val="1E2530"/>
                </a:solidFill>
                <a:latin typeface="Arial" pitchFamily="34" charset="0"/>
                <a:ea typeface="Arial" pitchFamily="34" charset="-122"/>
                <a:cs typeface="Arial" pitchFamily="34" charset="-120"/>
              </a:rPr>
              <a:t>The brief draws it early, but it decides on the local result.</a:t>
            </a:r>
            <a:endParaRPr lang="en-US" sz="1250" dirty="0"/>
          </a:p>
          <a:p>
            <a:pPr indent="0" marL="0">
              <a:spcAft>
                <a:spcPts val="500"/>
              </a:spcAft>
              <a:buNone/>
            </a:pPr>
            <a:r>
              <a:rPr lang="en-US" sz="1250" dirty="0">
                <a:solidFill>
                  <a:srgbClr val="1E2530"/>
                </a:solidFill>
                <a:latin typeface="Arial" pitchFamily="34" charset="0"/>
                <a:ea typeface="Arial" pitchFamily="34" charset="-122"/>
                <a:cs typeface="Arial" pitchFamily="34" charset="-120"/>
              </a:rPr>
              <a:t>Ours runs on every refusal and every non-200 engine answer: 429/500 stay, 503/529 may leave.</a:t>
            </a:r>
            <a:endParaRPr lang="en-US" sz="1250" dirty="0"/>
          </a:p>
          <a:p>
            <a:pPr indent="0" marL="0">
              <a:spcAft>
                <a:spcPts val="500"/>
              </a:spcAft>
              <a:buNone/>
            </a:pPr>
            <a:r>
              <a:rPr lang="en-US" sz="1250" dirty="0">
                <a:solidFill>
                  <a:srgbClr val="1E2530"/>
                </a:solidFill>
                <a:latin typeface="Arial" pitchFamily="34" charset="0"/>
                <a:ea typeface="Arial" pitchFamily="34" charset="-122"/>
                <a:cs typeface="Arial" pitchFamily="34" charset="-120"/>
              </a:rPr>
              <a:t>Measured: 76 x 429 and 73 x 504 stay, 2 x 503 leave_disabled.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Guard, tenant window, stay or leave</a:t>
            </a:r>
            <a:endParaRPr lang="en-US" sz="3000" dirty="0"/>
          </a:p>
        </p:txBody>
      </p:sp>
      <p:sp>
        <p:nvSpPr>
          <p:cNvPr id="3" name="Shape 1"/>
          <p:cNvSpPr/>
          <p:nvPr/>
        </p:nvSpPr>
        <p:spPr>
          <a:xfrm>
            <a:off x="9933127" y="384048"/>
            <a:ext cx="1801368"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9933127" y="384048"/>
            <a:ext cx="180136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3 | Q2 Q6</a:t>
            </a:r>
            <a:endParaRPr lang="en-US" sz="1200" dirty="0"/>
          </a:p>
        </p:txBody>
      </p:sp>
      <p:sp>
        <p:nvSpPr>
          <p:cNvPr id="5" name="Shape 3"/>
          <p:cNvSpPr/>
          <p:nvPr/>
        </p:nvSpPr>
        <p:spPr>
          <a:xfrm>
            <a:off x="457200" y="1097280"/>
            <a:ext cx="5504688" cy="2606040"/>
          </a:xfrm>
          <a:prstGeom prst="roundRect">
            <a:avLst>
              <a:gd name="adj" fmla="val 4211"/>
            </a:avLst>
          </a:prstGeom>
          <a:solidFill>
            <a:srgbClr val="FFF5F5"/>
          </a:solidFill>
          <a:ln w="12700">
            <a:solidFill>
              <a:srgbClr val="FFF5F5"/>
            </a:solidFill>
            <a:prstDash val="solid"/>
          </a:ln>
        </p:spPr>
      </p:sp>
      <p:sp>
        <p:nvSpPr>
          <p:cNvPr id="6" name="Text 4"/>
          <p:cNvSpPr txBox="1"/>
          <p:nvPr/>
        </p:nvSpPr>
        <p:spPr>
          <a:xfrm>
            <a:off x="640080" y="1234440"/>
            <a:ext cx="5138928" cy="347472"/>
          </a:xfrm>
          <a:prstGeom prst="rect">
            <a:avLst/>
          </a:prstGeom>
          <a:noFill/>
          <a:ln/>
        </p:spPr>
        <p:txBody>
          <a:bodyPr wrap="square" lIns="0" tIns="0" rIns="0" bIns="0" rtlCol="0" anchor="ctr"/>
          <a:lstStyle/>
          <a:p>
            <a:pPr indent="0" marL="0">
              <a:buNone/>
            </a:pPr>
            <a:r>
              <a:rPr lang="en-US" sz="1800" b="1" dirty="0">
                <a:solidFill>
                  <a:srgbClr val="C92A2A"/>
                </a:solidFill>
                <a:latin typeface="Arial" pitchFamily="34" charset="0"/>
                <a:ea typeface="Arial" pitchFamily="34" charset="-122"/>
                <a:cs typeface="Arial" pitchFamily="34" charset="-120"/>
              </a:rPr>
              <a:t>inspect(payload) -&gt; Guard</a:t>
            </a:r>
            <a:endParaRPr lang="en-US" sz="1800" dirty="0"/>
          </a:p>
        </p:txBody>
      </p:sp>
      <p:sp>
        <p:nvSpPr>
          <p:cNvPr id="7" name="Text 5"/>
          <p:cNvSpPr txBox="1"/>
          <p:nvPr/>
        </p:nvSpPr>
        <p:spPr>
          <a:xfrm>
            <a:off x="640080" y="1645920"/>
            <a:ext cx="5138928" cy="1947672"/>
          </a:xfrm>
          <a:prstGeom prst="rect">
            <a:avLst/>
          </a:prstGeom>
          <a:noFill/>
          <a:ln/>
        </p:spPr>
        <p:txBody>
          <a:bodyPr wrap="square" lIns="0" tIns="0" rIns="0" bIns="0" rtlCol="0" anchor="t"/>
          <a:lstStyle/>
          <a:p>
            <a:pPr indent="0" marL="0">
              <a:spcAft>
                <a:spcPts val="500"/>
              </a:spcAft>
              <a:buNone/>
            </a:pPr>
            <a:r>
              <a:rPr lang="en-US" sz="1500" dirty="0">
                <a:solidFill>
                  <a:srgbClr val="1E2530"/>
                </a:solidFill>
                <a:latin typeface="Arial" pitchFamily="34" charset="0"/>
                <a:ea typeface="Arial" pitchFamily="34" charset="-122"/>
                <a:cs typeface="Arial" pitchFamily="34" charset="-120"/>
              </a:rPr>
              <a:t>First no, before any GPU work or queue slot.</a:t>
            </a:r>
            <a:endParaRPr lang="en-US" sz="1500" dirty="0"/>
          </a:p>
          <a:p>
            <a:pPr indent="0" marL="0">
              <a:spcAft>
                <a:spcPts val="500"/>
              </a:spcAft>
              <a:buNone/>
            </a:pPr>
            <a:r>
              <a:rPr lang="en-US" sz="1500" dirty="0">
                <a:solidFill>
                  <a:srgbClr val="1E2530"/>
                </a:solidFill>
                <a:latin typeface="Arial" pitchFamily="34" charset="0"/>
                <a:ea typeface="Arial" pitchFamily="34" charset="-122"/>
                <a:cs typeface="Arial" pitchFamily="34" charset="-120"/>
              </a:rPr>
              <a:t>400 bad_max_tokens, 400 prompt_too_long (prompt + output above 8,192).</a:t>
            </a:r>
            <a:endParaRPr lang="en-US" sz="1500" dirty="0"/>
          </a:p>
          <a:p>
            <a:pPr indent="0" marL="0">
              <a:spcAft>
                <a:spcPts val="500"/>
              </a:spcAft>
              <a:buNone/>
            </a:pPr>
            <a:r>
              <a:rPr lang="en-US" sz="1500" dirty="0">
                <a:solidFill>
                  <a:srgbClr val="1E2530"/>
                </a:solidFill>
                <a:latin typeface="Arial" pitchFamily="34" charset="0"/>
                <a:ea typeface="Arial" pitchFamily="34" charset="-122"/>
                <a:cs typeface="Arial" pitchFamily="34" charset="-120"/>
              </a:rPr>
              <a:t>400 = the client must change the request: no Retry-After, never overflows.</a:t>
            </a:r>
            <a:endParaRPr lang="en-US" sz="1500" dirty="0"/>
          </a:p>
        </p:txBody>
      </p:sp>
      <p:sp>
        <p:nvSpPr>
          <p:cNvPr id="8" name="Shape 6"/>
          <p:cNvSpPr/>
          <p:nvPr/>
        </p:nvSpPr>
        <p:spPr>
          <a:xfrm>
            <a:off x="6236208" y="1097280"/>
            <a:ext cx="5504688" cy="2606040"/>
          </a:xfrm>
          <a:prstGeom prst="roundRect">
            <a:avLst>
              <a:gd name="adj" fmla="val 4211"/>
            </a:avLst>
          </a:prstGeom>
          <a:solidFill>
            <a:srgbClr val="E7F5FF"/>
          </a:solidFill>
          <a:ln w="12700">
            <a:solidFill>
              <a:srgbClr val="E7F5FF"/>
            </a:solidFill>
            <a:prstDash val="solid"/>
          </a:ln>
        </p:spPr>
      </p:sp>
      <p:sp>
        <p:nvSpPr>
          <p:cNvPr id="9" name="Text 7"/>
          <p:cNvSpPr txBox="1"/>
          <p:nvPr/>
        </p:nvSpPr>
        <p:spPr>
          <a:xfrm>
            <a:off x="6419088" y="1234440"/>
            <a:ext cx="5138928" cy="347472"/>
          </a:xfrm>
          <a:prstGeom prst="rect">
            <a:avLst/>
          </a:prstGeom>
          <a:noFill/>
          <a:ln/>
        </p:spPr>
        <p:txBody>
          <a:bodyPr wrap="square" lIns="0" tIns="0" rIns="0" bIns="0" rtlCol="0" anchor="ctr"/>
          <a:lstStyle/>
          <a:p>
            <a:pPr indent="0" marL="0">
              <a:buNone/>
            </a:pPr>
            <a:r>
              <a:rPr lang="en-US" sz="1800" b="1" dirty="0">
                <a:solidFill>
                  <a:srgbClr val="1971C2"/>
                </a:solidFill>
                <a:latin typeface="Arial" pitchFamily="34" charset="0"/>
                <a:ea typeface="Arial" pitchFamily="34" charset="-122"/>
                <a:cs typeface="Arial" pitchFamily="34" charset="-120"/>
              </a:rPr>
              <a:t>Counting tokens: Qwen's tokenizer</a:t>
            </a:r>
            <a:endParaRPr lang="en-US" sz="1800" dirty="0"/>
          </a:p>
        </p:txBody>
      </p:sp>
      <p:sp>
        <p:nvSpPr>
          <p:cNvPr id="10" name="Text 8"/>
          <p:cNvSpPr txBox="1"/>
          <p:nvPr/>
        </p:nvSpPr>
        <p:spPr>
          <a:xfrm>
            <a:off x="6419088" y="1645920"/>
            <a:ext cx="5138928" cy="1947672"/>
          </a:xfrm>
          <a:prstGeom prst="rect">
            <a:avLst/>
          </a:prstGeom>
          <a:noFill/>
          <a:ln/>
        </p:spPr>
        <p:txBody>
          <a:bodyPr wrap="square" lIns="0" tIns="0" rIns="0" bIns="0" rtlCol="0" anchor="t"/>
          <a:lstStyle/>
          <a:p>
            <a:pPr indent="0" marL="0">
              <a:spcAft>
                <a:spcPts val="500"/>
              </a:spcAft>
              <a:buNone/>
            </a:pPr>
            <a:r>
              <a:rPr lang="en-US" sz="1500" dirty="0">
                <a:solidFill>
                  <a:srgbClr val="1E2530"/>
                </a:solidFill>
                <a:latin typeface="Arial" pitchFamily="34" charset="0"/>
                <a:ea typeface="Arial" pitchFamily="34" charset="-122"/>
                <a:cs typeface="Arial" pitchFamily="34" charset="-120"/>
              </a:rPr>
              <a:t>GATEWAY_TOKEN_COUNTER = estimate | tokenizer.</a:t>
            </a:r>
            <a:endParaRPr lang="en-US" sz="1500" dirty="0"/>
          </a:p>
          <a:p>
            <a:pPr indent="0" marL="0">
              <a:spcAft>
                <a:spcPts val="500"/>
              </a:spcAft>
              <a:buNone/>
            </a:pPr>
            <a:r>
              <a:rPr lang="en-US" sz="1500" dirty="0">
                <a:solidFill>
                  <a:srgbClr val="1E2530"/>
                </a:solidFill>
                <a:latin typeface="Arial" pitchFamily="34" charset="0"/>
                <a:ea typeface="Arial" pitchFamily="34" charset="-122"/>
                <a:cs typeface="Arial" pitchFamily="34" charset="-120"/>
              </a:rPr>
              <a:t>Same prompt: engine 1,673, tokenizer 1,673, characters / 4: 2,088.</a:t>
            </a:r>
            <a:endParaRPr lang="en-US" sz="1500" dirty="0"/>
          </a:p>
          <a:p>
            <a:pPr indent="0" marL="0">
              <a:spcAft>
                <a:spcPts val="500"/>
              </a:spcAft>
              <a:buNone/>
            </a:pPr>
            <a:r>
              <a:rPr lang="en-US" sz="1500" dirty="0">
                <a:solidFill>
                  <a:srgbClr val="1E2530"/>
                </a:solidFill>
                <a:latin typeface="Arial" pitchFamily="34" charset="0"/>
                <a:ea typeface="Arial" pitchFamily="34" charset="-122"/>
                <a:cs typeface="Arial" pitchFamily="34" charset="-120"/>
              </a:rPr>
              <a:t>6 of 6 prompts match the engine. GPU A/B run still owed.</a:t>
            </a:r>
            <a:endParaRPr lang="en-US" sz="1500" dirty="0"/>
          </a:p>
        </p:txBody>
      </p:sp>
      <p:sp>
        <p:nvSpPr>
          <p:cNvPr id="11" name="Shape 9"/>
          <p:cNvSpPr/>
          <p:nvPr/>
        </p:nvSpPr>
        <p:spPr>
          <a:xfrm>
            <a:off x="457200" y="3977640"/>
            <a:ext cx="5504688" cy="2606040"/>
          </a:xfrm>
          <a:prstGeom prst="roundRect">
            <a:avLst>
              <a:gd name="adj" fmla="val 4211"/>
            </a:avLst>
          </a:prstGeom>
          <a:solidFill>
            <a:srgbClr val="FFF4E6"/>
          </a:solidFill>
          <a:ln w="12700">
            <a:solidFill>
              <a:srgbClr val="FFF4E6"/>
            </a:solidFill>
            <a:prstDash val="solid"/>
          </a:ln>
        </p:spPr>
      </p:sp>
      <p:sp>
        <p:nvSpPr>
          <p:cNvPr id="12" name="Text 10"/>
          <p:cNvSpPr txBox="1"/>
          <p:nvPr/>
        </p:nvSpPr>
        <p:spPr>
          <a:xfrm>
            <a:off x="640080" y="4114800"/>
            <a:ext cx="5138928" cy="347472"/>
          </a:xfrm>
          <a:prstGeom prst="rect">
            <a:avLst/>
          </a:prstGeom>
          <a:noFill/>
          <a:ln/>
        </p:spPr>
        <p:txBody>
          <a:bodyPr wrap="square" lIns="0" tIns="0" rIns="0" bIns="0" rtlCol="0" anchor="ctr"/>
          <a:lstStyle/>
          <a:p>
            <a:pPr indent="0" marL="0">
              <a:buNone/>
            </a:pPr>
            <a:r>
              <a:rPr lang="en-US" sz="1800" b="1" dirty="0">
                <a:solidFill>
                  <a:srgbClr val="E67700"/>
                </a:solidFill>
                <a:latin typeface="Arial" pitchFamily="34" charset="0"/>
                <a:ea typeface="Arial" pitchFamily="34" charset="-122"/>
                <a:cs typeface="Arial" pitchFamily="34" charset="-120"/>
              </a:rPr>
              <a:t>Tenant window</a:t>
            </a:r>
            <a:endParaRPr lang="en-US" sz="1800" dirty="0"/>
          </a:p>
        </p:txBody>
      </p:sp>
      <p:sp>
        <p:nvSpPr>
          <p:cNvPr id="13" name="Text 11"/>
          <p:cNvSpPr txBox="1"/>
          <p:nvPr/>
        </p:nvSpPr>
        <p:spPr>
          <a:xfrm>
            <a:off x="640080" y="4526280"/>
            <a:ext cx="5138928" cy="1947672"/>
          </a:xfrm>
          <a:prstGeom prst="rect">
            <a:avLst/>
          </a:prstGeom>
          <a:noFill/>
          <a:ln/>
        </p:spPr>
        <p:txBody>
          <a:bodyPr wrap="square" lIns="0" tIns="0" rIns="0" bIns="0" rtlCol="0" anchor="t"/>
          <a:lstStyle/>
          <a:p>
            <a:pPr indent="0" marL="0">
              <a:spcAft>
                <a:spcPts val="500"/>
              </a:spcAft>
              <a:buNone/>
            </a:pPr>
            <a:r>
              <a:rPr lang="en-US" sz="1500" dirty="0">
                <a:solidFill>
                  <a:srgbClr val="1E2530"/>
                </a:solidFill>
                <a:latin typeface="Arial" pitchFamily="34" charset="0"/>
                <a:ea typeface="Arial" pitchFamily="34" charset="-122"/>
                <a:cs typeface="Arial" pitchFamily="34" charset="-120"/>
              </a:rPr>
              <a:t>200,000 tokens per 60 s per X-Tenant -&gt; 429 + Retry-After.</a:t>
            </a:r>
            <a:endParaRPr lang="en-US" sz="1500" dirty="0"/>
          </a:p>
          <a:p>
            <a:pPr indent="0" marL="0">
              <a:spcAft>
                <a:spcPts val="500"/>
              </a:spcAft>
              <a:buNone/>
            </a:pPr>
            <a:r>
              <a:rPr lang="en-US" sz="1500" dirty="0">
                <a:solidFill>
                  <a:srgbClr val="1E2530"/>
                </a:solidFill>
                <a:latin typeface="Arial" pitchFamily="34" charset="0"/>
                <a:ea typeface="Arial" pitchFamily="34" charset="-122"/>
                <a:cs typeface="Arial" pitchFamily="34" charset="-120"/>
              </a:rPr>
              <a:t>Measured: 76 x 429, all on tenant revision-batch. 32 students: 0 failures.</a:t>
            </a:r>
            <a:endParaRPr lang="en-US" sz="1500" dirty="0"/>
          </a:p>
          <a:p>
            <a:pPr indent="0" marL="0">
              <a:spcAft>
                <a:spcPts val="500"/>
              </a:spcAft>
              <a:buNone/>
            </a:pPr>
            <a:r>
              <a:rPr lang="en-US" sz="1500" dirty="0">
                <a:solidFill>
                  <a:srgbClr val="1E2530"/>
                </a:solidFill>
                <a:latin typeface="Arial" pitchFamily="34" charset="0"/>
                <a:ea typeface="Arial" pitchFamily="34" charset="-122"/>
                <a:cs typeface="Arial" pitchFamily="34" charset="-120"/>
              </a:rPr>
              <a:t>A fast 429 beats a slow 200.</a:t>
            </a:r>
            <a:endParaRPr lang="en-US" sz="1500" dirty="0"/>
          </a:p>
        </p:txBody>
      </p:sp>
      <p:sp>
        <p:nvSpPr>
          <p:cNvPr id="14" name="Shape 12"/>
          <p:cNvSpPr/>
          <p:nvPr/>
        </p:nvSpPr>
        <p:spPr>
          <a:xfrm>
            <a:off x="6236208" y="3977640"/>
            <a:ext cx="5504688" cy="2606040"/>
          </a:xfrm>
          <a:prstGeom prst="roundRect">
            <a:avLst>
              <a:gd name="adj" fmla="val 4211"/>
            </a:avLst>
          </a:prstGeom>
          <a:solidFill>
            <a:srgbClr val="F3F5F7"/>
          </a:solidFill>
          <a:ln w="12700">
            <a:solidFill>
              <a:srgbClr val="F3F5F7"/>
            </a:solidFill>
            <a:prstDash val="solid"/>
          </a:ln>
        </p:spPr>
      </p:sp>
      <p:sp>
        <p:nvSpPr>
          <p:cNvPr id="15" name="Text 13"/>
          <p:cNvSpPr txBox="1"/>
          <p:nvPr/>
        </p:nvSpPr>
        <p:spPr>
          <a:xfrm>
            <a:off x="6419088" y="4114800"/>
            <a:ext cx="5138928" cy="347472"/>
          </a:xfrm>
          <a:prstGeom prst="rect">
            <a:avLst/>
          </a:prstGeom>
          <a:noFill/>
          <a:ln/>
        </p:spPr>
        <p:txBody>
          <a:bodyPr wrap="square" lIns="0" tIns="0" rIns="0" bIns="0" rtlCol="0" anchor="ctr"/>
          <a:lstStyle/>
          <a:p>
            <a:pPr indent="0" marL="0">
              <a:buNone/>
            </a:pPr>
            <a:r>
              <a:rPr lang="en-US" sz="1800" b="1" dirty="0">
                <a:solidFill>
                  <a:srgbClr val="5F6B7A"/>
                </a:solidFill>
                <a:latin typeface="Arial" pitchFamily="34" charset="0"/>
                <a:ea typeface="Arial" pitchFamily="34" charset="-122"/>
                <a:cs typeface="Arial" pitchFamily="34" charset="-120"/>
              </a:rPr>
              <a:t>Stay or leave</a:t>
            </a:r>
            <a:endParaRPr lang="en-US" sz="1800" dirty="0"/>
          </a:p>
        </p:txBody>
      </p:sp>
      <p:sp>
        <p:nvSpPr>
          <p:cNvPr id="16" name="Text 14"/>
          <p:cNvSpPr txBox="1"/>
          <p:nvPr/>
        </p:nvSpPr>
        <p:spPr>
          <a:xfrm>
            <a:off x="6419088" y="4526280"/>
            <a:ext cx="5138928" cy="1947672"/>
          </a:xfrm>
          <a:prstGeom prst="rect">
            <a:avLst/>
          </a:prstGeom>
          <a:noFill/>
          <a:ln/>
        </p:spPr>
        <p:txBody>
          <a:bodyPr wrap="square" lIns="0" tIns="0" rIns="0" bIns="0" rtlCol="0" anchor="t"/>
          <a:lstStyle/>
          <a:p>
            <a:pPr indent="0" marL="0">
              <a:spcAft>
                <a:spcPts val="500"/>
              </a:spcAft>
              <a:buNone/>
            </a:pPr>
            <a:r>
              <a:rPr lang="en-US" sz="1500" dirty="0">
                <a:solidFill>
                  <a:srgbClr val="1E2530"/>
                </a:solidFill>
                <a:latin typeface="Arial" pitchFamily="34" charset="0"/>
                <a:ea typeface="Arial" pitchFamily="34" charset="-122"/>
                <a:cs typeface="Arial" pitchFamily="34" charset="-120"/>
              </a:rPr>
              <a:t>429, 500, slice_oom stay. 503 and 529 may leave. A 429 never overflows.</a:t>
            </a:r>
            <a:endParaRPr lang="en-US" sz="1500" dirty="0"/>
          </a:p>
          <a:p>
            <a:pPr indent="0" marL="0">
              <a:spcAft>
                <a:spcPts val="500"/>
              </a:spcAft>
              <a:buNone/>
            </a:pPr>
            <a:r>
              <a:rPr lang="en-US" sz="1500" dirty="0">
                <a:solidFill>
                  <a:srgbClr val="1E2530"/>
                </a:solidFill>
                <a:latin typeface="Arial" pitchFamily="34" charset="0"/>
                <a:ea typeface="Arial" pitchFamily="34" charset="-122"/>
                <a:cs typeface="Arial" pitchFamily="34" charset="-120"/>
              </a:rPr>
              <a:t>Overflow recipient: Qwen3-8B on one owned 24 GB GPU; first limiter its KV pool (~30k tokens).</a:t>
            </a:r>
            <a:endParaRPr lang="en-US" sz="1500" dirty="0"/>
          </a:p>
          <a:p>
            <a:pPr indent="0" marL="0">
              <a:spcAft>
                <a:spcPts val="500"/>
              </a:spcAft>
              <a:buNone/>
            </a:pPr>
            <a:r>
              <a:rPr lang="en-US" sz="1500" dirty="0">
                <a:solidFill>
                  <a:srgbClr val="1E2530"/>
                </a:solidFill>
                <a:latin typeface="Arial" pitchFamily="34" charset="0"/>
                <a:ea typeface="Arial" pitchFamily="34" charset="-122"/>
                <a:cs typeface="Arial" pitchFamily="34" charset="-120"/>
              </a:rPr>
              <a:t>Decided, not wired: counted as leave_disabled.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Place: prefix_then_load</a:t>
            </a:r>
            <a:endParaRPr lang="en-US" sz="3000" dirty="0"/>
          </a:p>
        </p:txBody>
      </p:sp>
      <p:sp>
        <p:nvSpPr>
          <p:cNvPr id="3" name="Shape 1"/>
          <p:cNvSpPr/>
          <p:nvPr/>
        </p:nvSpPr>
        <p:spPr>
          <a:xfrm>
            <a:off x="10221163" y="384048"/>
            <a:ext cx="1513332"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221163" y="384048"/>
            <a:ext cx="151333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4 | Q7</a:t>
            </a:r>
            <a:endParaRPr lang="en-US" sz="1200" dirty="0"/>
          </a:p>
        </p:txBody>
      </p:sp>
      <p:sp>
        <p:nvSpPr>
          <p:cNvPr id="5" name="Shape 3"/>
          <p:cNvSpPr/>
          <p:nvPr/>
        </p:nvSpPr>
        <p:spPr>
          <a:xfrm>
            <a:off x="457200" y="1143000"/>
            <a:ext cx="731520" cy="731520"/>
          </a:xfrm>
          <a:prstGeom prst="ellipse">
            <a:avLst/>
          </a:prstGeom>
          <a:solidFill>
            <a:srgbClr val="E67700"/>
          </a:solidFill>
          <a:ln w="12700">
            <a:solidFill>
              <a:srgbClr val="E67700"/>
            </a:solidFill>
            <a:prstDash val="solid"/>
          </a:ln>
        </p:spPr>
      </p:sp>
      <p:sp>
        <p:nvSpPr>
          <p:cNvPr id="6" name="Text 4"/>
          <p:cNvSpPr txBox="1"/>
          <p:nvPr/>
        </p:nvSpPr>
        <p:spPr>
          <a:xfrm>
            <a:off x="457200" y="11430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7" name="Text 5"/>
          <p:cNvSpPr txBox="1"/>
          <p:nvPr/>
        </p:nvSpPr>
        <p:spPr>
          <a:xfrm>
            <a:off x="1417320" y="1124712"/>
            <a:ext cx="5120640" cy="365760"/>
          </a:xfrm>
          <a:prstGeom prst="rect">
            <a:avLst/>
          </a:prstGeom>
          <a:noFill/>
          <a:ln/>
        </p:spPr>
        <p:txBody>
          <a:bodyPr wrap="square" lIns="0" tIns="0" rIns="0" bIns="0" rtlCol="0" anchor="ctr"/>
          <a:lstStyle/>
          <a:p>
            <a:pPr indent="0" marL="0">
              <a:buNone/>
            </a:pPr>
            <a:r>
              <a:rPr lang="en-US" sz="1800" b="1" dirty="0">
                <a:solidFill>
                  <a:srgbClr val="1E2530"/>
                </a:solidFill>
                <a:latin typeface="Arial" pitchFamily="34" charset="0"/>
                <a:ea typeface="Arial" pitchFamily="34" charset="-122"/>
                <a:cs typeface="Arial" pitchFamily="34" charset="-120"/>
              </a:rPr>
              <a:t>Eligible</a:t>
            </a:r>
            <a:endParaRPr lang="en-US" sz="1800" dirty="0"/>
          </a:p>
        </p:txBody>
      </p:sp>
      <p:sp>
        <p:nvSpPr>
          <p:cNvPr id="8" name="Text 6"/>
          <p:cNvSpPr txBox="1"/>
          <p:nvPr/>
        </p:nvSpPr>
        <p:spPr>
          <a:xfrm>
            <a:off x="1417320" y="1490472"/>
            <a:ext cx="5120640" cy="384048"/>
          </a:xfrm>
          <a:prstGeom prst="rect">
            <a:avLst/>
          </a:prstGeom>
          <a:noFill/>
          <a:ln/>
        </p:spPr>
        <p:txBody>
          <a:bodyPr wrap="square" lIns="0" tIns="0" rIns="0" bIns="0" rtlCol="0" anchor="ctr"/>
          <a:lstStyle/>
          <a:p>
            <a:pPr indent="0" marL="0">
              <a:buNone/>
            </a:pPr>
            <a:r>
              <a:rPr lang="en-US" sz="1400" dirty="0">
                <a:solidFill>
                  <a:srgbClr val="5F6B7A"/>
                </a:solidFill>
                <a:latin typeface="Arial" pitchFamily="34" charset="0"/>
                <a:ea typeface="Arial" pitchFamily="34" charset="-122"/>
                <a:cs typeface="Arial" pitchFamily="34" charset="-120"/>
              </a:rPr>
              <a:t>ready, metrics at most 10 s old</a:t>
            </a:r>
            <a:endParaRPr lang="en-US" sz="1400" dirty="0"/>
          </a:p>
        </p:txBody>
      </p:sp>
      <p:sp>
        <p:nvSpPr>
          <p:cNvPr id="9" name="Shape 7"/>
          <p:cNvSpPr/>
          <p:nvPr/>
        </p:nvSpPr>
        <p:spPr>
          <a:xfrm>
            <a:off x="457200" y="2240280"/>
            <a:ext cx="731520" cy="731520"/>
          </a:xfrm>
          <a:prstGeom prst="ellipse">
            <a:avLst/>
          </a:prstGeom>
          <a:solidFill>
            <a:srgbClr val="E67700"/>
          </a:solidFill>
          <a:ln w="12700">
            <a:solidFill>
              <a:srgbClr val="E67700"/>
            </a:solidFill>
            <a:prstDash val="solid"/>
          </a:ln>
        </p:spPr>
      </p:sp>
      <p:sp>
        <p:nvSpPr>
          <p:cNvPr id="10" name="Text 8"/>
          <p:cNvSpPr txBox="1"/>
          <p:nvPr/>
        </p:nvSpPr>
        <p:spPr>
          <a:xfrm>
            <a:off x="457200" y="224028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1" name="Text 9"/>
          <p:cNvSpPr txBox="1"/>
          <p:nvPr/>
        </p:nvSpPr>
        <p:spPr>
          <a:xfrm>
            <a:off x="1417320" y="2221992"/>
            <a:ext cx="5120640" cy="365760"/>
          </a:xfrm>
          <a:prstGeom prst="rect">
            <a:avLst/>
          </a:prstGeom>
          <a:noFill/>
          <a:ln/>
        </p:spPr>
        <p:txBody>
          <a:bodyPr wrap="square" lIns="0" tIns="0" rIns="0" bIns="0" rtlCol="0" anchor="ctr"/>
          <a:lstStyle/>
          <a:p>
            <a:pPr indent="0" marL="0">
              <a:buNone/>
            </a:pPr>
            <a:r>
              <a:rPr lang="en-US" sz="1800" b="1" dirty="0">
                <a:solidFill>
                  <a:srgbClr val="1E2530"/>
                </a:solidFill>
                <a:latin typeface="Arial" pitchFamily="34" charset="0"/>
                <a:ea typeface="Arial" pitchFamily="34" charset="-122"/>
                <a:cs typeface="Arial" pitchFamily="34" charset="-120"/>
              </a:rPr>
              <a:t>Queue room</a:t>
            </a:r>
            <a:endParaRPr lang="en-US" sz="1800" dirty="0"/>
          </a:p>
        </p:txBody>
      </p:sp>
      <p:sp>
        <p:nvSpPr>
          <p:cNvPr id="12" name="Text 10"/>
          <p:cNvSpPr txBox="1"/>
          <p:nvPr/>
        </p:nvSpPr>
        <p:spPr>
          <a:xfrm>
            <a:off x="1417320" y="2587752"/>
            <a:ext cx="5120640" cy="384048"/>
          </a:xfrm>
          <a:prstGeom prst="rect">
            <a:avLst/>
          </a:prstGeom>
          <a:noFill/>
          <a:ln/>
        </p:spPr>
        <p:txBody>
          <a:bodyPr wrap="square" lIns="0" tIns="0" rIns="0" bIns="0" rtlCol="0" anchor="ctr"/>
          <a:lstStyle/>
          <a:p>
            <a:pPr indent="0" marL="0">
              <a:buNone/>
            </a:pPr>
            <a:r>
              <a:rPr lang="en-US" sz="1400" dirty="0">
                <a:solidFill>
                  <a:srgbClr val="5F6B7A"/>
                </a:solidFill>
                <a:latin typeface="Arial" pitchFamily="34" charset="0"/>
                <a:ea typeface="Arial" pitchFamily="34" charset="-122"/>
                <a:cs typeface="Arial" pitchFamily="34" charset="-120"/>
              </a:rPr>
              <a:t>prefer workers whose queue has room</a:t>
            </a:r>
            <a:endParaRPr lang="en-US" sz="1400" dirty="0"/>
          </a:p>
        </p:txBody>
      </p:sp>
      <p:sp>
        <p:nvSpPr>
          <p:cNvPr id="13" name="Shape 11"/>
          <p:cNvSpPr/>
          <p:nvPr/>
        </p:nvSpPr>
        <p:spPr>
          <a:xfrm>
            <a:off x="457200" y="3337560"/>
            <a:ext cx="731520" cy="731520"/>
          </a:xfrm>
          <a:prstGeom prst="ellipse">
            <a:avLst/>
          </a:prstGeom>
          <a:solidFill>
            <a:srgbClr val="E67700"/>
          </a:solidFill>
          <a:ln w="12700">
            <a:solidFill>
              <a:srgbClr val="E67700"/>
            </a:solidFill>
            <a:prstDash val="solid"/>
          </a:ln>
        </p:spPr>
      </p:sp>
      <p:sp>
        <p:nvSpPr>
          <p:cNvPr id="14" name="Text 12"/>
          <p:cNvSpPr txBox="1"/>
          <p:nvPr/>
        </p:nvSpPr>
        <p:spPr>
          <a:xfrm>
            <a:off x="457200" y="33375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5" name="Text 13"/>
          <p:cNvSpPr txBox="1"/>
          <p:nvPr/>
        </p:nvSpPr>
        <p:spPr>
          <a:xfrm>
            <a:off x="1417320" y="3319272"/>
            <a:ext cx="5120640" cy="365760"/>
          </a:xfrm>
          <a:prstGeom prst="rect">
            <a:avLst/>
          </a:prstGeom>
          <a:noFill/>
          <a:ln/>
        </p:spPr>
        <p:txBody>
          <a:bodyPr wrap="square" lIns="0" tIns="0" rIns="0" bIns="0" rtlCol="0" anchor="ctr"/>
          <a:lstStyle/>
          <a:p>
            <a:pPr indent="0" marL="0">
              <a:buNone/>
            </a:pPr>
            <a:r>
              <a:rPr lang="en-US" sz="1800" b="1" dirty="0">
                <a:solidFill>
                  <a:srgbClr val="1E2530"/>
                </a:solidFill>
                <a:latin typeface="Arial" pitchFamily="34" charset="0"/>
                <a:ea typeface="Arial" pitchFamily="34" charset="-122"/>
                <a:cs typeface="Arial" pitchFamily="34" charset="-120"/>
              </a:rPr>
              <a:t>Least loaded</a:t>
            </a:r>
            <a:endParaRPr lang="en-US" sz="1800" dirty="0"/>
          </a:p>
        </p:txBody>
      </p:sp>
      <p:sp>
        <p:nvSpPr>
          <p:cNvPr id="16" name="Text 14"/>
          <p:cNvSpPr txBox="1"/>
          <p:nvPr/>
        </p:nvSpPr>
        <p:spPr>
          <a:xfrm>
            <a:off x="1417320" y="3685032"/>
            <a:ext cx="5120640" cy="384048"/>
          </a:xfrm>
          <a:prstGeom prst="rect">
            <a:avLst/>
          </a:prstGeom>
          <a:noFill/>
          <a:ln/>
        </p:spPr>
        <p:txBody>
          <a:bodyPr wrap="square" lIns="0" tIns="0" rIns="0" bIns="0" rtlCol="0" anchor="ctr"/>
          <a:lstStyle/>
          <a:p>
            <a:pPr indent="0" marL="0">
              <a:buNone/>
            </a:pPr>
            <a:r>
              <a:rPr lang="en-US" sz="1400" dirty="0">
                <a:solidFill>
                  <a:srgbClr val="5F6B7A"/>
                </a:solidFill>
                <a:latin typeface="Arial" pitchFamily="34" charset="0"/>
                <a:ea typeface="Arial" pitchFamily="34" charset="-122"/>
                <a:cs typeface="Arial" pitchFamily="34" charset="-120"/>
              </a:rPr>
              <a:t>our queue + in flight + engine waiting (+ ramp penalty)</a:t>
            </a:r>
            <a:endParaRPr lang="en-US" sz="1400" dirty="0"/>
          </a:p>
        </p:txBody>
      </p:sp>
      <p:sp>
        <p:nvSpPr>
          <p:cNvPr id="17" name="Shape 15"/>
          <p:cNvSpPr/>
          <p:nvPr/>
        </p:nvSpPr>
        <p:spPr>
          <a:xfrm>
            <a:off x="457200" y="4434840"/>
            <a:ext cx="731520" cy="731520"/>
          </a:xfrm>
          <a:prstGeom prst="ellipse">
            <a:avLst/>
          </a:prstGeom>
          <a:solidFill>
            <a:srgbClr val="E67700"/>
          </a:solidFill>
          <a:ln w="12700">
            <a:solidFill>
              <a:srgbClr val="E67700"/>
            </a:solidFill>
            <a:prstDash val="solid"/>
          </a:ln>
        </p:spPr>
      </p:sp>
      <p:sp>
        <p:nvSpPr>
          <p:cNvPr id="18" name="Text 16"/>
          <p:cNvSpPr txBox="1"/>
          <p:nvPr/>
        </p:nvSpPr>
        <p:spPr>
          <a:xfrm>
            <a:off x="457200" y="44348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19" name="Text 17"/>
          <p:cNvSpPr txBox="1"/>
          <p:nvPr/>
        </p:nvSpPr>
        <p:spPr>
          <a:xfrm>
            <a:off x="1417320" y="4416552"/>
            <a:ext cx="5120640" cy="365760"/>
          </a:xfrm>
          <a:prstGeom prst="rect">
            <a:avLst/>
          </a:prstGeom>
          <a:noFill/>
          <a:ln/>
        </p:spPr>
        <p:txBody>
          <a:bodyPr wrap="square" lIns="0" tIns="0" rIns="0" bIns="0" rtlCol="0" anchor="ctr"/>
          <a:lstStyle/>
          <a:p>
            <a:pPr indent="0" marL="0">
              <a:buNone/>
            </a:pPr>
            <a:r>
              <a:rPr lang="en-US" sz="1800" b="1" dirty="0">
                <a:solidFill>
                  <a:srgbClr val="1E2530"/>
                </a:solidFill>
                <a:latin typeface="Arial" pitchFamily="34" charset="0"/>
                <a:ea typeface="Arial" pitchFamily="34" charset="-122"/>
                <a:cs typeface="Arial" pitchFamily="34" charset="-120"/>
              </a:rPr>
              <a:t>Prefix holder</a:t>
            </a:r>
            <a:endParaRPr lang="en-US" sz="1800" dirty="0"/>
          </a:p>
        </p:txBody>
      </p:sp>
      <p:sp>
        <p:nvSpPr>
          <p:cNvPr id="20" name="Text 18"/>
          <p:cNvSpPr txBox="1"/>
          <p:nvPr/>
        </p:nvSpPr>
        <p:spPr>
          <a:xfrm>
            <a:off x="1417320" y="4782312"/>
            <a:ext cx="5120640" cy="384048"/>
          </a:xfrm>
          <a:prstGeom prst="rect">
            <a:avLst/>
          </a:prstGeom>
          <a:noFill/>
          <a:ln/>
        </p:spPr>
        <p:txBody>
          <a:bodyPr wrap="square" lIns="0" tIns="0" rIns="0" bIns="0" rtlCol="0" anchor="ctr"/>
          <a:lstStyle/>
          <a:p>
            <a:pPr indent="0" marL="0">
              <a:buNone/>
            </a:pPr>
            <a:r>
              <a:rPr lang="en-US" sz="1400" dirty="0">
                <a:solidFill>
                  <a:srgbClr val="5F6B7A"/>
                </a:solidFill>
                <a:latin typeface="Arial" pitchFamily="34" charset="0"/>
                <a:ea typeface="Arial" pitchFamily="34" charset="-122"/>
                <a:cs typeface="Arial" pitchFamily="34" charset="-120"/>
              </a:rPr>
              <a:t>wins if its load is within slack 4; else a hop is recorded</a:t>
            </a:r>
            <a:endParaRPr lang="en-US" sz="1400" dirty="0"/>
          </a:p>
        </p:txBody>
      </p:sp>
      <p:sp>
        <p:nvSpPr>
          <p:cNvPr id="21" name="Text 19"/>
          <p:cNvSpPr txBox="1"/>
          <p:nvPr/>
        </p:nvSpPr>
        <p:spPr>
          <a:xfrm>
            <a:off x="457200" y="5577840"/>
            <a:ext cx="6126480" cy="822960"/>
          </a:xfrm>
          <a:prstGeom prst="rect">
            <a:avLst/>
          </a:prstGeom>
          <a:noFill/>
          <a:ln/>
        </p:spPr>
        <p:txBody>
          <a:bodyPr wrap="square" lIns="0" tIns="0" rIns="0" bIns="0" rtlCol="0" anchor="ctr"/>
          <a:lstStyle/>
          <a:p>
            <a:pPr indent="0" marL="0">
              <a:buNone/>
            </a:pPr>
            <a:r>
              <a:rPr lang="en-US" sz="1300" i="1" dirty="0">
                <a:solidFill>
                  <a:srgbClr val="5F6B7A"/>
                </a:solidFill>
                <a:latin typeface="Arial" pitchFamily="34" charset="0"/>
                <a:ea typeface="Arial" pitchFamily="34" charset="-122"/>
                <a:cs typeface="Arial" pitchFamily="34" charset="-120"/>
              </a:rPr>
              <a:t>Queue depth is a scorer, not only an admit input. No bounce: placed once; a full queue sheds 503. p2c equals least-loaded with two workers.</a:t>
            </a:r>
            <a:endParaRPr lang="en-US" sz="1300" dirty="0"/>
          </a:p>
        </p:txBody>
      </p:sp>
      <p:sp>
        <p:nvSpPr>
          <p:cNvPr id="22" name="Shape 20"/>
          <p:cNvSpPr/>
          <p:nvPr/>
        </p:nvSpPr>
        <p:spPr>
          <a:xfrm>
            <a:off x="7040880" y="1143000"/>
            <a:ext cx="4690872" cy="2377440"/>
          </a:xfrm>
          <a:prstGeom prst="roundRect">
            <a:avLst>
              <a:gd name="adj" fmla="val 4615"/>
            </a:avLst>
          </a:prstGeom>
          <a:solidFill>
            <a:srgbClr val="FFF4E6"/>
          </a:solidFill>
          <a:ln w="12700">
            <a:solidFill>
              <a:srgbClr val="FFF4E6"/>
            </a:solidFill>
            <a:prstDash val="solid"/>
          </a:ln>
        </p:spPr>
      </p:sp>
      <p:sp>
        <p:nvSpPr>
          <p:cNvPr id="23" name="Text 21"/>
          <p:cNvSpPr txBox="1"/>
          <p:nvPr/>
        </p:nvSpPr>
        <p:spPr>
          <a:xfrm>
            <a:off x="7178040" y="1234440"/>
            <a:ext cx="4416552" cy="1188720"/>
          </a:xfrm>
          <a:prstGeom prst="rect">
            <a:avLst/>
          </a:prstGeom>
          <a:noFill/>
          <a:ln/>
        </p:spPr>
        <p:txBody>
          <a:bodyPr wrap="square" lIns="0" tIns="0" rIns="0" bIns="0" rtlCol="0" anchor="ctr"/>
          <a:lstStyle/>
          <a:p>
            <a:pPr algn="ctr" indent="0" marL="0">
              <a:buNone/>
            </a:pPr>
            <a:r>
              <a:rPr lang="en-US" sz="4000" b="1" dirty="0">
                <a:solidFill>
                  <a:srgbClr val="E67700"/>
                </a:solidFill>
                <a:latin typeface="Arial" pitchFamily="34" charset="0"/>
                <a:ea typeface="Arial" pitchFamily="34" charset="-122"/>
                <a:cs typeface="Arial" pitchFamily="34" charset="-120"/>
              </a:rPr>
              <a:t>5:1 -&gt; 1:1</a:t>
            </a:r>
            <a:endParaRPr lang="en-US" sz="4000" dirty="0"/>
          </a:p>
        </p:txBody>
      </p:sp>
      <p:sp>
        <p:nvSpPr>
          <p:cNvPr id="24" name="Text 22"/>
          <p:cNvSpPr txBox="1"/>
          <p:nvPr/>
        </p:nvSpPr>
        <p:spPr>
          <a:xfrm>
            <a:off x="7178040" y="2423160"/>
            <a:ext cx="4416552" cy="1005840"/>
          </a:xfrm>
          <a:prstGeom prst="rect">
            <a:avLst/>
          </a:prstGeom>
          <a:noFill/>
          <a:ln/>
        </p:spPr>
        <p:txBody>
          <a:bodyPr wrap="square" lIns="0" tIns="0" rIns="0" bIns="0" rtlCol="0" anchor="t"/>
          <a:lstStyle/>
          <a:p>
            <a:pPr algn="ctr" indent="0" marL="0">
              <a:buNone/>
            </a:pPr>
            <a:r>
              <a:rPr lang="en-US" sz="1400" dirty="0">
                <a:solidFill>
                  <a:srgbClr val="1E2530"/>
                </a:solidFill>
                <a:latin typeface="Arial" pitchFamily="34" charset="0"/>
                <a:ea typeface="Arial" pitchFamily="34" charset="-122"/>
                <a:cs typeface="Arial" pitchFamily="34" charset="-120"/>
              </a:rPr>
              <a:t>Ties to the first worker herded traffic onto worker-a. Random tie-break evened it out.</a:t>
            </a:r>
            <a:endParaRPr lang="en-US" sz="1400" dirty="0"/>
          </a:p>
        </p:txBody>
      </p:sp>
      <p:sp>
        <p:nvSpPr>
          <p:cNvPr id="25" name="Shape 23"/>
          <p:cNvSpPr/>
          <p:nvPr/>
        </p:nvSpPr>
        <p:spPr>
          <a:xfrm>
            <a:off x="7040880" y="3794760"/>
            <a:ext cx="4690872" cy="2377440"/>
          </a:xfrm>
          <a:prstGeom prst="roundRect">
            <a:avLst>
              <a:gd name="adj" fmla="val 4615"/>
            </a:avLst>
          </a:prstGeom>
          <a:solidFill>
            <a:srgbClr val="E3FAFC"/>
          </a:solidFill>
          <a:ln w="12700">
            <a:solidFill>
              <a:srgbClr val="E3FAFC"/>
            </a:solidFill>
            <a:prstDash val="solid"/>
          </a:ln>
        </p:spPr>
      </p:sp>
      <p:sp>
        <p:nvSpPr>
          <p:cNvPr id="26" name="Text 24"/>
          <p:cNvSpPr txBox="1"/>
          <p:nvPr/>
        </p:nvSpPr>
        <p:spPr>
          <a:xfrm>
            <a:off x="7178040" y="3886200"/>
            <a:ext cx="4416552" cy="1188720"/>
          </a:xfrm>
          <a:prstGeom prst="rect">
            <a:avLst/>
          </a:prstGeom>
          <a:noFill/>
          <a:ln/>
        </p:spPr>
        <p:txBody>
          <a:bodyPr wrap="square" lIns="0" tIns="0" rIns="0" bIns="0" rtlCol="0" anchor="ctr"/>
          <a:lstStyle/>
          <a:p>
            <a:pPr algn="ctr" indent="0" marL="0">
              <a:buNone/>
            </a:pPr>
            <a:r>
              <a:rPr lang="en-US" sz="4000" b="1" dirty="0">
                <a:solidFill>
                  <a:srgbClr val="0C8599"/>
                </a:solidFill>
                <a:latin typeface="Arial" pitchFamily="34" charset="0"/>
                <a:ea typeface="Arial" pitchFamily="34" charset="-122"/>
                <a:cs typeface="Arial" pitchFamily="34" charset="-120"/>
              </a:rPr>
              <a:t>399 -&gt; 2 hops</a:t>
            </a:r>
            <a:endParaRPr lang="en-US" sz="4000" dirty="0"/>
          </a:p>
        </p:txBody>
      </p:sp>
      <p:sp>
        <p:nvSpPr>
          <p:cNvPr id="27" name="Text 25"/>
          <p:cNvSpPr txBox="1"/>
          <p:nvPr/>
        </p:nvSpPr>
        <p:spPr>
          <a:xfrm>
            <a:off x="7178040" y="5074920"/>
            <a:ext cx="4416552" cy="1005840"/>
          </a:xfrm>
          <a:prstGeom prst="rect">
            <a:avLst/>
          </a:prstGeom>
          <a:noFill/>
          <a:ln/>
        </p:spPr>
        <p:txBody>
          <a:bodyPr wrap="square" lIns="0" tIns="0" rIns="0" bIns="0" rtlCol="0" anchor="t"/>
          <a:lstStyle/>
          <a:p>
            <a:pPr algn="ctr" indent="0" marL="0">
              <a:buNone/>
            </a:pPr>
            <a:r>
              <a:rPr lang="en-US" sz="1400" dirty="0">
                <a:solidFill>
                  <a:srgbClr val="1E2530"/>
                </a:solidFill>
                <a:latin typeface="Arial" pitchFamily="34" charset="0"/>
                <a:ea typeface="Arial" pitchFamily="34" charset="-122"/>
                <a:cs typeface="Arial" pitchFamily="34" charset="-120"/>
              </a:rPr>
              <a:t>Prefix affinity with a set of holders keeps the shared prefix where it already is (3-minute run).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Queue: the backlog sits with us</a:t>
            </a:r>
            <a:endParaRPr lang="en-US" sz="3000" dirty="0"/>
          </a:p>
        </p:txBody>
      </p:sp>
      <p:sp>
        <p:nvSpPr>
          <p:cNvPr id="3" name="Shape 1"/>
          <p:cNvSpPr/>
          <p:nvPr/>
        </p:nvSpPr>
        <p:spPr>
          <a:xfrm>
            <a:off x="9645091" y="384048"/>
            <a:ext cx="2089404"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9645091" y="384048"/>
            <a:ext cx="208940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5 | Q3 Q5 Q9</a:t>
            </a:r>
            <a:endParaRPr lang="en-US" sz="1200" dirty="0"/>
          </a:p>
        </p:txBody>
      </p:sp>
      <p:pic>
        <p:nvPicPr>
          <p:cNvPr id="5" name="Image 0" descr="/home/markt/dev/maven/abi-aryan/course-assistant/plots/part5-queue-depth-by-pod.png">    </p:cNvPr>
          <p:cNvPicPr>
            <a:picLocks noChangeAspect="1"/>
          </p:cNvPicPr>
          <p:nvPr/>
        </p:nvPicPr>
        <p:blipFill>
          <a:blip r:embed="rId1"/>
          <a:stretch>
            <a:fillRect/>
          </a:stretch>
        </p:blipFill>
        <p:spPr>
          <a:xfrm>
            <a:off x="457200" y="1051560"/>
            <a:ext cx="6949440" cy="4422371"/>
          </a:xfrm>
          <a:prstGeom prst="rect">
            <a:avLst/>
          </a:prstGeom>
        </p:spPr>
      </p:pic>
      <p:sp>
        <p:nvSpPr>
          <p:cNvPr id="6" name="Text 3"/>
          <p:cNvSpPr txBox="1"/>
          <p:nvPr/>
        </p:nvSpPr>
        <p:spPr>
          <a:xfrm>
            <a:off x="457200" y="5577840"/>
            <a:ext cx="6949440" cy="320040"/>
          </a:xfrm>
          <a:prstGeom prst="rect">
            <a:avLst/>
          </a:prstGeom>
          <a:noFill/>
          <a:ln/>
        </p:spPr>
        <p:txBody>
          <a:bodyPr wrap="square" lIns="0" tIns="0" rIns="0" bIns="0" rtlCol="0" anchor="ctr"/>
          <a:lstStyle/>
          <a:p>
            <a:pPr indent="0" marL="0">
              <a:buNone/>
            </a:pPr>
            <a:r>
              <a:rPr lang="en-US" sz="1100" dirty="0">
                <a:solidFill>
                  <a:srgbClr val="5F6B7A"/>
                </a:solidFill>
                <a:latin typeface="Arial" pitchFamily="34" charset="0"/>
                <a:ea typeface="Arial" pitchFamily="34" charset="-122"/>
                <a:cs typeface="Arial" pitchFamily="34" charset="-120"/>
              </a:rPr>
              <a:t>notebook/part5_queue.ipynb, live Prometheus, A100 80GB, 30 Sep 22:30-00:00</a:t>
            </a:r>
            <a:endParaRPr lang="en-US" sz="1100" dirty="0"/>
          </a:p>
        </p:txBody>
      </p:sp>
      <p:sp>
        <p:nvSpPr>
          <p:cNvPr id="7" name="Shape 4"/>
          <p:cNvSpPr/>
          <p:nvPr/>
        </p:nvSpPr>
        <p:spPr>
          <a:xfrm>
            <a:off x="7680960" y="1051560"/>
            <a:ext cx="4050792" cy="1645920"/>
          </a:xfrm>
          <a:prstGeom prst="roundRect">
            <a:avLst>
              <a:gd name="adj" fmla="val 6667"/>
            </a:avLst>
          </a:prstGeom>
          <a:solidFill>
            <a:srgbClr val="FFF4E6"/>
          </a:solidFill>
          <a:ln w="12700">
            <a:solidFill>
              <a:srgbClr val="FFF4E6"/>
            </a:solidFill>
            <a:prstDash val="solid"/>
          </a:ln>
        </p:spPr>
      </p:sp>
      <p:sp>
        <p:nvSpPr>
          <p:cNvPr id="8" name="Text 5"/>
          <p:cNvSpPr txBox="1"/>
          <p:nvPr/>
        </p:nvSpPr>
        <p:spPr>
          <a:xfrm>
            <a:off x="7863840" y="1188720"/>
            <a:ext cx="3685032" cy="347472"/>
          </a:xfrm>
          <a:prstGeom prst="rect">
            <a:avLst/>
          </a:prstGeom>
          <a:noFill/>
          <a:ln/>
        </p:spPr>
        <p:txBody>
          <a:bodyPr wrap="square" lIns="0" tIns="0" rIns="0" bIns="0" rtlCol="0" anchor="ctr"/>
          <a:lstStyle/>
          <a:p>
            <a:pPr indent="0" marL="0">
              <a:buNone/>
            </a:pPr>
            <a:r>
              <a:rPr lang="en-US" sz="1500" b="1" dirty="0">
                <a:solidFill>
                  <a:srgbClr val="E67700"/>
                </a:solidFill>
                <a:latin typeface="Arial" pitchFamily="34" charset="0"/>
                <a:ea typeface="Arial" pitchFamily="34" charset="-122"/>
                <a:cs typeface="Arial" pitchFamily="34" charset="-120"/>
              </a:rPr>
              <a:t>Ours vs the engine's</a:t>
            </a:r>
            <a:endParaRPr lang="en-US" sz="1500" dirty="0"/>
          </a:p>
        </p:txBody>
      </p:sp>
      <p:sp>
        <p:nvSpPr>
          <p:cNvPr id="9" name="Text 6"/>
          <p:cNvSpPr txBox="1"/>
          <p:nvPr/>
        </p:nvSpPr>
        <p:spPr>
          <a:xfrm>
            <a:off x="7863840" y="1600200"/>
            <a:ext cx="3685032" cy="987552"/>
          </a:xfrm>
          <a:prstGeom prst="rect">
            <a:avLst/>
          </a:prstGeom>
          <a:noFill/>
          <a:ln/>
        </p:spPr>
        <p:txBody>
          <a:bodyPr wrap="square" lIns="0" tIns="0" rIns="0" bIns="0" rtlCol="0" anchor="t"/>
          <a:lstStyle/>
          <a:p>
            <a:pPr indent="0" marL="0">
              <a:spcAft>
                <a:spcPts val="500"/>
              </a:spcAft>
              <a:buNone/>
            </a:pPr>
            <a:r>
              <a:rPr lang="en-US" sz="1300" dirty="0">
                <a:solidFill>
                  <a:srgbClr val="1E2530"/>
                </a:solidFill>
                <a:latin typeface="Arial" pitchFamily="34" charset="0"/>
                <a:ea typeface="Arial" pitchFamily="34" charset="-122"/>
                <a:cs typeface="Arial" pitchFamily="34" charset="-120"/>
              </a:rPr>
              <a:t>Our queue rises to 14-16 per worker, in flight is flat at 8. Engine waiting stays ~0.</a:t>
            </a:r>
            <a:endParaRPr lang="en-US" sz="1300" dirty="0"/>
          </a:p>
        </p:txBody>
      </p:sp>
      <p:sp>
        <p:nvSpPr>
          <p:cNvPr id="10" name="Shape 7"/>
          <p:cNvSpPr/>
          <p:nvPr/>
        </p:nvSpPr>
        <p:spPr>
          <a:xfrm>
            <a:off x="7680960" y="2834640"/>
            <a:ext cx="4050792" cy="1645920"/>
          </a:xfrm>
          <a:prstGeom prst="roundRect">
            <a:avLst>
              <a:gd name="adj" fmla="val 6667"/>
            </a:avLst>
          </a:prstGeom>
          <a:solidFill>
            <a:srgbClr val="EBFBEE"/>
          </a:solidFill>
          <a:ln w="12700">
            <a:solidFill>
              <a:srgbClr val="EBFBEE"/>
            </a:solidFill>
            <a:prstDash val="solid"/>
          </a:ln>
        </p:spPr>
      </p:sp>
      <p:sp>
        <p:nvSpPr>
          <p:cNvPr id="11" name="Text 8"/>
          <p:cNvSpPr txBox="1"/>
          <p:nvPr/>
        </p:nvSpPr>
        <p:spPr>
          <a:xfrm>
            <a:off x="7863840" y="2971800"/>
            <a:ext cx="3685032" cy="347472"/>
          </a:xfrm>
          <a:prstGeom prst="rect">
            <a:avLst/>
          </a:prstGeom>
          <a:noFill/>
          <a:ln/>
        </p:spPr>
        <p:txBody>
          <a:bodyPr wrap="square" lIns="0" tIns="0" rIns="0" bIns="0" rtlCol="0" anchor="ctr"/>
          <a:lstStyle/>
          <a:p>
            <a:pPr indent="0" marL="0">
              <a:buNone/>
            </a:pPr>
            <a:r>
              <a:rPr lang="en-US" sz="1500" b="1" dirty="0">
                <a:solidFill>
                  <a:srgbClr val="2F9E44"/>
                </a:solidFill>
                <a:latin typeface="Arial" pitchFamily="34" charset="0"/>
                <a:ea typeface="Arial" pitchFamily="34" charset="-122"/>
                <a:cs typeface="Arial" pitchFamily="34" charset="-120"/>
              </a:rPr>
              <a:t>Interactive first</a:t>
            </a:r>
            <a:endParaRPr lang="en-US" sz="1500" dirty="0"/>
          </a:p>
        </p:txBody>
      </p:sp>
      <p:sp>
        <p:nvSpPr>
          <p:cNvPr id="12" name="Text 9"/>
          <p:cNvSpPr txBox="1"/>
          <p:nvPr/>
        </p:nvSpPr>
        <p:spPr>
          <a:xfrm>
            <a:off x="7863840" y="3383280"/>
            <a:ext cx="3685032" cy="987552"/>
          </a:xfrm>
          <a:prstGeom prst="rect">
            <a:avLst/>
          </a:prstGeom>
          <a:noFill/>
          <a:ln/>
        </p:spPr>
        <p:txBody>
          <a:bodyPr wrap="square" lIns="0" tIns="0" rIns="0" bIns="0" rtlCol="0" anchor="t"/>
          <a:lstStyle/>
          <a:p>
            <a:pPr indent="0" marL="0">
              <a:spcAft>
                <a:spcPts val="500"/>
              </a:spcAft>
              <a:buNone/>
            </a:pPr>
            <a:r>
              <a:rPr lang="en-US" sz="1300" dirty="0">
                <a:solidFill>
                  <a:srgbClr val="1E2530"/>
                </a:solidFill>
                <a:latin typeface="Arial" pitchFamily="34" charset="0"/>
                <a:ea typeface="Arial" pitchFamily="34" charset="-122"/>
                <a:cs typeface="Arial" pitchFamily="34" charset="-120"/>
              </a:rPr>
              <a:t>Interactive 475/475 and agent 108/108 OK. Batch: 78 x 504.</a:t>
            </a:r>
            <a:endParaRPr lang="en-US" sz="1300" dirty="0"/>
          </a:p>
        </p:txBody>
      </p:sp>
      <p:sp>
        <p:nvSpPr>
          <p:cNvPr id="13" name="Shape 10"/>
          <p:cNvSpPr/>
          <p:nvPr/>
        </p:nvSpPr>
        <p:spPr>
          <a:xfrm>
            <a:off x="7680960" y="4617720"/>
            <a:ext cx="4050792" cy="1828800"/>
          </a:xfrm>
          <a:prstGeom prst="roundRect">
            <a:avLst>
              <a:gd name="adj" fmla="val 6000"/>
            </a:avLst>
          </a:prstGeom>
          <a:solidFill>
            <a:srgbClr val="E7F5FF"/>
          </a:solidFill>
          <a:ln w="12700">
            <a:solidFill>
              <a:srgbClr val="E7F5FF"/>
            </a:solidFill>
            <a:prstDash val="solid"/>
          </a:ln>
        </p:spPr>
      </p:sp>
      <p:sp>
        <p:nvSpPr>
          <p:cNvPr id="14" name="Text 11"/>
          <p:cNvSpPr txBox="1"/>
          <p:nvPr/>
        </p:nvSpPr>
        <p:spPr>
          <a:xfrm>
            <a:off x="7863840" y="4754880"/>
            <a:ext cx="3685032" cy="347472"/>
          </a:xfrm>
          <a:prstGeom prst="rect">
            <a:avLst/>
          </a:prstGeom>
          <a:noFill/>
          <a:ln/>
        </p:spPr>
        <p:txBody>
          <a:bodyPr wrap="square" lIns="0" tIns="0" rIns="0" bIns="0" rtlCol="0" anchor="ctr"/>
          <a:lstStyle/>
          <a:p>
            <a:pPr indent="0" marL="0">
              <a:buNone/>
            </a:pPr>
            <a:r>
              <a:rPr lang="en-US" sz="1500" b="1" dirty="0">
                <a:solidFill>
                  <a:srgbClr val="1971C2"/>
                </a:solidFill>
                <a:latin typeface="Arial" pitchFamily="34" charset="0"/>
                <a:ea typeface="Arial" pitchFamily="34" charset="-122"/>
                <a:cs typeface="Arial" pitchFamily="34" charset="-120"/>
              </a:rPr>
              <a:t>Deadline per class</a:t>
            </a:r>
            <a:endParaRPr lang="en-US" sz="1500" dirty="0"/>
          </a:p>
        </p:txBody>
      </p:sp>
      <p:sp>
        <p:nvSpPr>
          <p:cNvPr id="15" name="Text 12"/>
          <p:cNvSpPr txBox="1"/>
          <p:nvPr/>
        </p:nvSpPr>
        <p:spPr>
          <a:xfrm>
            <a:off x="7863840" y="5166360"/>
            <a:ext cx="3685032" cy="1170432"/>
          </a:xfrm>
          <a:prstGeom prst="rect">
            <a:avLst/>
          </a:prstGeom>
          <a:noFill/>
          <a:ln/>
        </p:spPr>
        <p:txBody>
          <a:bodyPr wrap="square" lIns="0" tIns="0" rIns="0" bIns="0" rtlCol="0" anchor="t"/>
          <a:lstStyle/>
          <a:p>
            <a:pPr indent="0" marL="0">
              <a:spcAft>
                <a:spcPts val="500"/>
              </a:spcAft>
              <a:buNone/>
            </a:pPr>
            <a:r>
              <a:rPr lang="en-US" sz="1300" dirty="0">
                <a:solidFill>
                  <a:srgbClr val="1E2530"/>
                </a:solidFill>
                <a:latin typeface="Arial" pitchFamily="34" charset="0"/>
                <a:ea typeface="Arial" pitchFamily="34" charset="-122"/>
                <a:cs typeface="Arial" pitchFamily="34" charset="-120"/>
              </a:rPr>
              <a:t>Interactive 5 s, batch 30 s; batch refused (503) at half the queue. Tested, not yet measured on the GPU.</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Part 5: the nine questions</a:t>
            </a:r>
            <a:endParaRPr lang="en-US" sz="3000" dirty="0"/>
          </a:p>
        </p:txBody>
      </p:sp>
      <p:sp>
        <p:nvSpPr>
          <p:cNvPr id="3" name="Shape 1"/>
          <p:cNvSpPr/>
          <p:nvPr/>
        </p:nvSpPr>
        <p:spPr>
          <a:xfrm>
            <a:off x="10637215" y="384048"/>
            <a:ext cx="1097280"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637215" y="384048"/>
            <a:ext cx="10972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5</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2834640"/>
                <a:gridCol w="5120640"/>
                <a:gridCol w="3319272"/>
              </a:tblGrid>
              <a:tr h="475488">
                <a:tc>
                  <a:txBody>
                    <a:bodyPr/>
                    <a:lstStyle/>
                    <a:p>
                      <a:pPr indent="0" marL="0">
                        <a:buNone/>
                      </a:pPr>
                      <a:r>
                        <a:rPr lang="en-US" sz="1150" b="1" dirty="0">
                          <a:solidFill>
                            <a:srgbClr val="FFFFFF"/>
                          </a:solidFill>
                          <a:latin typeface="Arial" pitchFamily="34" charset="0"/>
                          <a:ea typeface="Arial" pitchFamily="34" charset="-122"/>
                          <a:cs typeface="Arial" pitchFamily="34" charset="-120"/>
                        </a:rPr>
                        <a:t>Question</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Answer</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Scrape / evidence</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r>
              <a:tr h="475488">
                <a:tc>
                  <a:txBody>
                    <a:bodyPr/>
                    <a:lstStyle/>
                    <a:p>
                      <a:pPr indent="0" marL="0">
                        <a:buNone/>
                      </a:pPr>
                      <a:r>
                        <a:rPr lang="en-US" sz="1150" b="1" dirty="0">
                          <a:solidFill>
                            <a:srgbClr val="1E2530"/>
                          </a:solidFill>
                          <a:latin typeface="Arial" pitchFamily="34" charset="0"/>
                          <a:ea typeface="Arial" pitchFamily="34" charset="-122"/>
                          <a:cs typeface="Arial" pitchFamily="34" charset="-120"/>
                        </a:rPr>
                        <a:t>Our queue vs engine waiting</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Ours: admitted, not dispatched. Engine: dispatched, not running</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orch_replica_queue_depth vs sglang:num_queue_reqs</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E2530"/>
                          </a:solidFill>
                          <a:latin typeface="Arial" pitchFamily="34" charset="0"/>
                          <a:ea typeface="Arial" pitchFamily="34" charset="-122"/>
                          <a:cs typeface="Arial" pitchFamily="34" charset="-120"/>
                        </a:rPr>
                        <a:t>Waiting / running / preempted</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Running capped at 8; 0 retractions</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sglang:num_running_reqs, num_retracted_reqs</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475488">
                <a:tc>
                  <a:txBody>
                    <a:bodyPr/>
                    <a:lstStyle/>
                    <a:p>
                      <a:pPr indent="0" marL="0">
                        <a:buNone/>
                      </a:pPr>
                      <a:r>
                        <a:rPr lang="en-US" sz="1150" b="1" dirty="0">
                          <a:solidFill>
                            <a:srgbClr val="1E2530"/>
                          </a:solidFill>
                          <a:latin typeface="Arial" pitchFamily="34" charset="0"/>
                          <a:ea typeface="Arial" pitchFamily="34" charset="-122"/>
                          <a:cs typeface="Arial" pitchFamily="34" charset="-120"/>
                        </a:rPr>
                        <a:t>Queue depth per pod, which mix</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Per worker under the labelled Class 7 mix</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plots/part5-queue-depth-by-pod.png</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E2530"/>
                          </a:solidFill>
                          <a:latin typeface="Arial" pitchFamily="34" charset="0"/>
                          <a:ea typeface="Arial" pitchFamily="34" charset="-122"/>
                          <a:cs typeface="Arial" pitchFamily="34" charset="-120"/>
                        </a:rPr>
                        <a:t>32k RAG vs short decode</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32k never enters (guard). In our queue we order; after dispatch SGLang does</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guard 400; chunked prefill 2,048</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475488">
                <a:tc>
                  <a:txBody>
                    <a:bodyPr/>
                    <a:lstStyle/>
                    <a:p>
                      <a:pPr indent="0" marL="0">
                        <a:buNone/>
                      </a:pPr>
                      <a:r>
                        <a:rPr lang="en-US" sz="1150" b="1" dirty="0">
                          <a:solidFill>
                            <a:srgbClr val="1E2530"/>
                          </a:solidFill>
                          <a:latin typeface="Arial" pitchFamily="34" charset="0"/>
                          <a:ea typeface="Arial" pitchFamily="34" charset="-122"/>
                          <a:cs typeface="Arial" pitchFamily="34" charset="-120"/>
                        </a:rPr>
                        <a:t>PagedAttention vs radix</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The radix prefix cache saved memory: ~97-100 % hits</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plots/part5-shared-prefix-kv.png</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E2530"/>
                          </a:solidFill>
                          <a:latin typeface="Arial" pitchFamily="34" charset="0"/>
                          <a:ea typeface="Arial" pitchFamily="34" charset="-122"/>
                          <a:cs typeface="Arial" pitchFamily="34" charset="-120"/>
                        </a:rPr>
                        <a:t>Engine flags</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max-running-requests 8, chunked-prefill 2,048, context 8,192</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cluster/workers/sglang.yaml</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475488">
                <a:tc>
                  <a:txBody>
                    <a:bodyPr/>
                    <a:lstStyle/>
                    <a:p>
                      <a:pPr indent="0" marL="0">
                        <a:buNone/>
                      </a:pPr>
                      <a:r>
                        <a:rPr lang="en-US" sz="1150" b="1" dirty="0">
                          <a:solidFill>
                            <a:srgbClr val="1E2530"/>
                          </a:solidFill>
                          <a:latin typeface="Arial" pitchFamily="34" charset="0"/>
                          <a:ea typeface="Arial" pitchFamily="34" charset="-122"/>
                          <a:cs typeface="Arial" pitchFamily="34" charset="-120"/>
                        </a:rPr>
                        <a:t>KV full after admit</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We admit below 90 %; after that the engine retracts. Never reached</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peak KV 8.8 %</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E2530"/>
                          </a:solidFill>
                          <a:latin typeface="Arial" pitchFamily="34" charset="0"/>
                          <a:ea typeface="Arial" pitchFamily="34" charset="-122"/>
                          <a:cs typeface="Arial" pitchFamily="34" charset="-120"/>
                        </a:rPr>
                        <a:t>Client gone</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Gateway closes the stream; SGLang aborts and frees KV</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running 1 -&gt; 0 vs control 1.0</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475488">
                <a:tc>
                  <a:txBody>
                    <a:bodyPr/>
                    <a:lstStyle/>
                    <a:p>
                      <a:pPr indent="0" marL="0">
                        <a:buNone/>
                      </a:pPr>
                      <a:r>
                        <a:rPr lang="en-US" sz="1150" b="1" dirty="0">
                          <a:solidFill>
                            <a:srgbClr val="1E2530"/>
                          </a:solidFill>
                          <a:latin typeface="Arial" pitchFamily="34" charset="0"/>
                          <a:ea typeface="Arial" pitchFamily="34" charset="-122"/>
                          <a:cs typeface="Arial" pitchFamily="34" charset="-120"/>
                        </a:rPr>
                        <a:t>Worker returns</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Ramp 1 -&gt; 2 -&gt; 4 -&gt; 8 after 5 warmups</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50" dirty="0">
                          <a:solidFill>
                            <a:srgbClr val="1E2530"/>
                          </a:solidFill>
                          <a:latin typeface="Arial" pitchFamily="34" charset="0"/>
                          <a:ea typeface="Arial" pitchFamily="34" charset="-122"/>
                          <a:cs typeface="Arial" pitchFamily="34" charset="-120"/>
                        </a:rPr>
                        <a:t>0 user requests for 19 s, then normal share</a:t>
                      </a:r>
                      <a:endParaRPr lang="en-US" sz="11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Hop and warmup: is it actually warm?</a:t>
            </a:r>
            <a:endParaRPr lang="en-US" sz="3000" dirty="0"/>
          </a:p>
        </p:txBody>
      </p:sp>
      <p:sp>
        <p:nvSpPr>
          <p:cNvPr id="3" name="Shape 1"/>
          <p:cNvSpPr/>
          <p:nvPr/>
        </p:nvSpPr>
        <p:spPr>
          <a:xfrm>
            <a:off x="9933127" y="384048"/>
            <a:ext cx="1801368"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9933127" y="384048"/>
            <a:ext cx="180136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6 | Q7 Q8</a:t>
            </a:r>
            <a:endParaRPr lang="en-US" sz="1200" dirty="0"/>
          </a:p>
        </p:txBody>
      </p:sp>
      <p:sp>
        <p:nvSpPr>
          <p:cNvPr id="5" name="Shape 3"/>
          <p:cNvSpPr/>
          <p:nvPr/>
        </p:nvSpPr>
        <p:spPr>
          <a:xfrm>
            <a:off x="457200" y="1097280"/>
            <a:ext cx="3566160" cy="1737360"/>
          </a:xfrm>
          <a:prstGeom prst="roundRect">
            <a:avLst>
              <a:gd name="adj" fmla="val 6316"/>
            </a:avLst>
          </a:prstGeom>
          <a:solidFill>
            <a:srgbClr val="FFF5F5"/>
          </a:solidFill>
          <a:ln w="12700">
            <a:solidFill>
              <a:srgbClr val="FFF5F5"/>
            </a:solidFill>
            <a:prstDash val="solid"/>
          </a:ln>
        </p:spPr>
      </p:sp>
      <p:sp>
        <p:nvSpPr>
          <p:cNvPr id="6" name="Text 4"/>
          <p:cNvSpPr txBox="1"/>
          <p:nvPr/>
        </p:nvSpPr>
        <p:spPr>
          <a:xfrm>
            <a:off x="594360" y="1188720"/>
            <a:ext cx="3291840" cy="868680"/>
          </a:xfrm>
          <a:prstGeom prst="rect">
            <a:avLst/>
          </a:prstGeom>
          <a:noFill/>
          <a:ln/>
        </p:spPr>
        <p:txBody>
          <a:bodyPr wrap="square" lIns="0" tIns="0" rIns="0" bIns="0" rtlCol="0" anchor="ctr"/>
          <a:lstStyle/>
          <a:p>
            <a:pPr algn="ctr" indent="0" marL="0">
              <a:buNone/>
            </a:pPr>
            <a:r>
              <a:rPr lang="en-US" sz="2400" b="1" dirty="0">
                <a:solidFill>
                  <a:srgbClr val="C92A2A"/>
                </a:solidFill>
                <a:latin typeface="Arial" pitchFamily="34" charset="0"/>
                <a:ea typeface="Arial" pitchFamily="34" charset="-122"/>
                <a:cs typeface="Arial" pitchFamily="34" charset="-120"/>
              </a:rPr>
              <a:t>54 -&gt; 98 -&gt; 15 ms</a:t>
            </a:r>
            <a:endParaRPr lang="en-US" sz="2400" dirty="0"/>
          </a:p>
        </p:txBody>
      </p:sp>
      <p:sp>
        <p:nvSpPr>
          <p:cNvPr id="7" name="Text 5"/>
          <p:cNvSpPr txBox="1"/>
          <p:nvPr/>
        </p:nvSpPr>
        <p:spPr>
          <a:xfrm>
            <a:off x="594360" y="2057400"/>
            <a:ext cx="3291840" cy="685800"/>
          </a:xfrm>
          <a:prstGeom prst="rect">
            <a:avLst/>
          </a:prstGeom>
          <a:noFill/>
          <a:ln/>
        </p:spPr>
        <p:txBody>
          <a:bodyPr wrap="square" lIns="0" tIns="0" rIns="0" bIns="0" rtlCol="0" anchor="t"/>
          <a:lstStyle/>
          <a:p>
            <a:pPr algn="ctr" indent="0" marL="0">
              <a:buNone/>
            </a:pPr>
            <a:r>
              <a:rPr lang="en-US" sz="1200" dirty="0">
                <a:solidFill>
                  <a:srgbClr val="1E2530"/>
                </a:solidFill>
                <a:latin typeface="Arial" pitchFamily="34" charset="0"/>
                <a:ea typeface="Arial" pitchFamily="34" charset="-122"/>
                <a:cs typeface="Arial" pitchFamily="34" charset="-120"/>
              </a:rPr>
              <a:t>fresh worker: cold prefix, prefix cached but still slow, warm</a:t>
            </a:r>
            <a:endParaRPr lang="en-US" sz="1200" dirty="0"/>
          </a:p>
        </p:txBody>
      </p:sp>
      <p:sp>
        <p:nvSpPr>
          <p:cNvPr id="8" name="Shape 6"/>
          <p:cNvSpPr/>
          <p:nvPr/>
        </p:nvSpPr>
        <p:spPr>
          <a:xfrm>
            <a:off x="4297680" y="1097280"/>
            <a:ext cx="3566160" cy="1737360"/>
          </a:xfrm>
          <a:prstGeom prst="roundRect">
            <a:avLst>
              <a:gd name="adj" fmla="val 6316"/>
            </a:avLst>
          </a:prstGeom>
          <a:solidFill>
            <a:srgbClr val="EBFBEE"/>
          </a:solidFill>
          <a:ln w="12700">
            <a:solidFill>
              <a:srgbClr val="EBFBEE"/>
            </a:solidFill>
            <a:prstDash val="solid"/>
          </a:ln>
        </p:spPr>
      </p:sp>
      <p:sp>
        <p:nvSpPr>
          <p:cNvPr id="9" name="Text 7"/>
          <p:cNvSpPr txBox="1"/>
          <p:nvPr/>
        </p:nvSpPr>
        <p:spPr>
          <a:xfrm>
            <a:off x="4434840" y="1188720"/>
            <a:ext cx="3291840" cy="868680"/>
          </a:xfrm>
          <a:prstGeom prst="rect">
            <a:avLst/>
          </a:prstGeom>
          <a:noFill/>
          <a:ln/>
        </p:spPr>
        <p:txBody>
          <a:bodyPr wrap="square" lIns="0" tIns="0" rIns="0" bIns="0" rtlCol="0" anchor="ctr"/>
          <a:lstStyle/>
          <a:p>
            <a:pPr algn="ctr" indent="0" marL="0">
              <a:buNone/>
            </a:pPr>
            <a:r>
              <a:rPr lang="en-US" sz="3000" b="1" dirty="0">
                <a:solidFill>
                  <a:srgbClr val="2F9E44"/>
                </a:solidFill>
                <a:latin typeface="Arial" pitchFamily="34" charset="0"/>
                <a:ea typeface="Arial" pitchFamily="34" charset="-122"/>
                <a:cs typeface="Arial" pitchFamily="34" charset="-120"/>
              </a:rPr>
              <a:t>22-23 ms</a:t>
            </a:r>
            <a:endParaRPr lang="en-US" sz="3000" dirty="0"/>
          </a:p>
        </p:txBody>
      </p:sp>
      <p:sp>
        <p:nvSpPr>
          <p:cNvPr id="10" name="Text 8"/>
          <p:cNvSpPr txBox="1"/>
          <p:nvPr/>
        </p:nvSpPr>
        <p:spPr>
          <a:xfrm>
            <a:off x="4434840" y="2057400"/>
            <a:ext cx="3291840" cy="685800"/>
          </a:xfrm>
          <a:prstGeom prst="rect">
            <a:avLst/>
          </a:prstGeom>
          <a:noFill/>
          <a:ln/>
        </p:spPr>
        <p:txBody>
          <a:bodyPr wrap="square" lIns="0" tIns="0" rIns="0" bIns="0" rtlCol="0" anchor="t"/>
          <a:lstStyle/>
          <a:p>
            <a:pPr algn="ctr" indent="0" marL="0">
              <a:buNone/>
            </a:pPr>
            <a:r>
              <a:rPr lang="en-US" sz="1200" dirty="0">
                <a:solidFill>
                  <a:srgbClr val="1E2530"/>
                </a:solidFill>
                <a:latin typeface="Arial" pitchFamily="34" charset="0"/>
                <a:ea typeface="Arial" pitchFamily="34" charset="-122"/>
                <a:cs typeface="Arial" pitchFamily="34" charset="-120"/>
              </a:rPr>
              <a:t>first user request after 5 warmup requests on the app prefix</a:t>
            </a:r>
            <a:endParaRPr lang="en-US" sz="1200" dirty="0"/>
          </a:p>
        </p:txBody>
      </p:sp>
      <p:sp>
        <p:nvSpPr>
          <p:cNvPr id="11" name="Shape 9"/>
          <p:cNvSpPr/>
          <p:nvPr/>
        </p:nvSpPr>
        <p:spPr>
          <a:xfrm>
            <a:off x="8138160" y="1097280"/>
            <a:ext cx="3593592" cy="1737360"/>
          </a:xfrm>
          <a:prstGeom prst="roundRect">
            <a:avLst>
              <a:gd name="adj" fmla="val 6316"/>
            </a:avLst>
          </a:prstGeom>
          <a:solidFill>
            <a:srgbClr val="E3FAFC"/>
          </a:solidFill>
          <a:ln w="12700">
            <a:solidFill>
              <a:srgbClr val="E3FAFC"/>
            </a:solidFill>
            <a:prstDash val="solid"/>
          </a:ln>
        </p:spPr>
      </p:sp>
      <p:sp>
        <p:nvSpPr>
          <p:cNvPr id="12" name="Text 10"/>
          <p:cNvSpPr txBox="1"/>
          <p:nvPr/>
        </p:nvSpPr>
        <p:spPr>
          <a:xfrm>
            <a:off x="8275320" y="1188720"/>
            <a:ext cx="3319272" cy="868680"/>
          </a:xfrm>
          <a:prstGeom prst="rect">
            <a:avLst/>
          </a:prstGeom>
          <a:noFill/>
          <a:ln/>
        </p:spPr>
        <p:txBody>
          <a:bodyPr wrap="square" lIns="0" tIns="0" rIns="0" bIns="0" rtlCol="0" anchor="ctr"/>
          <a:lstStyle/>
          <a:p>
            <a:pPr algn="ctr" indent="0" marL="0">
              <a:buNone/>
            </a:pPr>
            <a:r>
              <a:rPr lang="en-US" sz="3000" b="1" dirty="0">
                <a:solidFill>
                  <a:srgbClr val="0C8599"/>
                </a:solidFill>
                <a:latin typeface="Arial" pitchFamily="34" charset="0"/>
                <a:ea typeface="Arial" pitchFamily="34" charset="-122"/>
                <a:cs typeface="Arial" pitchFamily="34" charset="-120"/>
              </a:rPr>
              <a:t>2 hops</a:t>
            </a:r>
            <a:endParaRPr lang="en-US" sz="3000" dirty="0"/>
          </a:p>
        </p:txBody>
      </p:sp>
      <p:sp>
        <p:nvSpPr>
          <p:cNvPr id="13" name="Text 11"/>
          <p:cNvSpPr txBox="1"/>
          <p:nvPr/>
        </p:nvSpPr>
        <p:spPr>
          <a:xfrm>
            <a:off x="8275320" y="2057400"/>
            <a:ext cx="3319272" cy="685800"/>
          </a:xfrm>
          <a:prstGeom prst="rect">
            <a:avLst/>
          </a:prstGeom>
          <a:noFill/>
          <a:ln/>
        </p:spPr>
        <p:txBody>
          <a:bodyPr wrap="square" lIns="0" tIns="0" rIns="0" bIns="0" rtlCol="0" anchor="t"/>
          <a:lstStyle/>
          <a:p>
            <a:pPr algn="ctr" indent="0" marL="0">
              <a:buNone/>
            </a:pPr>
            <a:r>
              <a:rPr lang="en-US" sz="1200" dirty="0">
                <a:solidFill>
                  <a:srgbClr val="1E2530"/>
                </a:solidFill>
                <a:latin typeface="Arial" pitchFamily="34" charset="0"/>
                <a:ea typeface="Arial" pitchFamily="34" charset="-122"/>
                <a:cs typeface="Arial" pitchFamily="34" charset="-120"/>
              </a:rPr>
              <a:t>in a 3-minute run of ~680 requests</a:t>
            </a:r>
            <a:endParaRPr lang="en-US" sz="1200" dirty="0"/>
          </a:p>
        </p:txBody>
      </p:sp>
      <p:sp>
        <p:nvSpPr>
          <p:cNvPr id="14" name="Shape 12"/>
          <p:cNvSpPr/>
          <p:nvPr/>
        </p:nvSpPr>
        <p:spPr>
          <a:xfrm>
            <a:off x="457200" y="3108960"/>
            <a:ext cx="5504688" cy="3337560"/>
          </a:xfrm>
          <a:prstGeom prst="roundRect">
            <a:avLst>
              <a:gd name="adj" fmla="val 3288"/>
            </a:avLst>
          </a:prstGeom>
          <a:solidFill>
            <a:srgbClr val="E3FAFC"/>
          </a:solidFill>
          <a:ln w="12700">
            <a:solidFill>
              <a:srgbClr val="E3FAFC"/>
            </a:solidFill>
            <a:prstDash val="solid"/>
          </a:ln>
        </p:spPr>
      </p:sp>
      <p:sp>
        <p:nvSpPr>
          <p:cNvPr id="15" name="Text 13"/>
          <p:cNvSpPr txBox="1"/>
          <p:nvPr/>
        </p:nvSpPr>
        <p:spPr>
          <a:xfrm>
            <a:off x="640080" y="3246120"/>
            <a:ext cx="5138928" cy="347472"/>
          </a:xfrm>
          <a:prstGeom prst="rect">
            <a:avLst/>
          </a:prstGeom>
          <a:noFill/>
          <a:ln/>
        </p:spPr>
        <p:txBody>
          <a:bodyPr wrap="square" lIns="0" tIns="0" rIns="0" bIns="0" rtlCol="0" anchor="ctr"/>
          <a:lstStyle/>
          <a:p>
            <a:pPr indent="0" marL="0">
              <a:buNone/>
            </a:pPr>
            <a:r>
              <a:rPr lang="en-US" sz="1800" b="1" dirty="0">
                <a:solidFill>
                  <a:srgbClr val="0C8599"/>
                </a:solidFill>
                <a:latin typeface="Arial" pitchFamily="34" charset="0"/>
                <a:ea typeface="Arial" pitchFamily="34" charset="-122"/>
                <a:cs typeface="Arial" pitchFamily="34" charset="-120"/>
              </a:rPr>
              <a:t>The hop record</a:t>
            </a:r>
            <a:endParaRPr lang="en-US" sz="1800" dirty="0"/>
          </a:p>
        </p:txBody>
      </p:sp>
      <p:sp>
        <p:nvSpPr>
          <p:cNvPr id="16" name="Text 14"/>
          <p:cNvSpPr txBox="1"/>
          <p:nvPr/>
        </p:nvSpPr>
        <p:spPr>
          <a:xfrm>
            <a:off x="640080" y="3657600"/>
            <a:ext cx="5138928" cy="2679192"/>
          </a:xfrm>
          <a:prstGeom prst="rect">
            <a:avLst/>
          </a:prstGeom>
          <a:noFill/>
          <a:ln/>
        </p:spPr>
        <p:txBody>
          <a:bodyPr wrap="square" lIns="0" tIns="0" rIns="0" bIns="0" rtlCol="0" anchor="t"/>
          <a:lstStyle/>
          <a:p>
            <a:pPr indent="0" marL="0">
              <a:spcAft>
                <a:spcPts val="500"/>
              </a:spcAft>
              <a:buNone/>
            </a:pPr>
            <a:r>
              <a:rPr lang="en-US" sz="1450" dirty="0">
                <a:solidFill>
                  <a:srgbClr val="1E2530"/>
                </a:solidFill>
                <a:latin typeface="Arial" pitchFamily="34" charset="0"/>
                <a:ea typeface="Arial" pitchFamily="34" charset="-122"/>
                <a:cs typeface="Arial" pitchFamily="34" charset="-120"/>
              </a:rPr>
              <a:t>src == dst: nothing recorded.</a:t>
            </a:r>
            <a:endParaRPr lang="en-US" sz="1450" dirty="0"/>
          </a:p>
          <a:p>
            <a:pPr indent="0" marL="0">
              <a:spcAft>
                <a:spcPts val="500"/>
              </a:spcAft>
              <a:buNone/>
            </a:pPr>
            <a:r>
              <a:rPr lang="en-US" sz="1450" dirty="0">
                <a:solidFill>
                  <a:srgbClr val="1E2530"/>
                </a:solidFill>
                <a:latin typeface="Arial" pitchFamily="34" charset="0"/>
                <a:ea typeface="Arial" pitchFamily="34" charset="-122"/>
                <a:cs typeface="Arial" pitchFamily="34" charset="-120"/>
              </a:rPr>
              <a:t>src != dst: Hop(src, dst, prefix, tokens, backend = recompute).</a:t>
            </a:r>
            <a:endParaRPr lang="en-US" sz="1450" dirty="0"/>
          </a:p>
          <a:p>
            <a:pPr indent="0" marL="0">
              <a:spcAft>
                <a:spcPts val="500"/>
              </a:spcAft>
              <a:buNone/>
            </a:pPr>
            <a:r>
              <a:rPr lang="en-US" sz="1450" dirty="0">
                <a:solidFill>
                  <a:srgbClr val="1E2530"/>
                </a:solidFill>
                <a:latin typeface="Arial" pitchFamily="34" charset="0"/>
                <a:ea typeface="Arial" pitchFamily="34" charset="-122"/>
                <a:cs typeface="Arial" pitchFamily="34" charset="-120"/>
              </a:rPr>
              <a:t>KV hop worker-b -&gt; worker-a prefix=723b... tokens=922 backend=recompute</a:t>
            </a:r>
            <a:endParaRPr lang="en-US" sz="1450" dirty="0"/>
          </a:p>
          <a:p>
            <a:pPr indent="0" marL="0">
              <a:spcAft>
                <a:spcPts val="500"/>
              </a:spcAft>
              <a:buNone/>
            </a:pPr>
            <a:r>
              <a:rPr lang="en-US" sz="1450" dirty="0">
                <a:solidFill>
                  <a:srgbClr val="1E2530"/>
                </a:solidFill>
                <a:latin typeface="Arial" pitchFamily="34" charset="0"/>
                <a:ea typeface="Arial" pitchFamily="34" charset="-122"/>
                <a:cs typeface="Arial" pitchFamily="34" charset="-120"/>
              </a:rPr>
              <a:t>Not copied: the KV tensors. The destination recomputes the prefix.</a:t>
            </a:r>
            <a:endParaRPr lang="en-US" sz="1450" dirty="0"/>
          </a:p>
          <a:p>
            <a:pPr indent="0" marL="0">
              <a:spcAft>
                <a:spcPts val="500"/>
              </a:spcAft>
              <a:buNone/>
            </a:pPr>
            <a:r>
              <a:rPr lang="en-US" sz="1450" dirty="0">
                <a:solidFill>
                  <a:srgbClr val="1E2530"/>
                </a:solidFill>
                <a:latin typeface="Arial" pitchFamily="34" charset="0"/>
                <a:ea typeface="Arial" pitchFamily="34" charset="-122"/>
                <a:cs typeface="Arial" pitchFamily="34" charset="-120"/>
              </a:rPr>
              <a:t>Worker lost -&gt; forget_worker, so no ghosts (worker_lost 2).</a:t>
            </a:r>
            <a:endParaRPr lang="en-US" sz="1450" dirty="0"/>
          </a:p>
        </p:txBody>
      </p:sp>
      <p:sp>
        <p:nvSpPr>
          <p:cNvPr id="17" name="Shape 15"/>
          <p:cNvSpPr/>
          <p:nvPr/>
        </p:nvSpPr>
        <p:spPr>
          <a:xfrm>
            <a:off x="6236208" y="3108960"/>
            <a:ext cx="5495544" cy="3337560"/>
          </a:xfrm>
          <a:prstGeom prst="roundRect">
            <a:avLst>
              <a:gd name="adj" fmla="val 3288"/>
            </a:avLst>
          </a:prstGeom>
          <a:solidFill>
            <a:srgbClr val="FFF4E6"/>
          </a:solidFill>
          <a:ln w="12700">
            <a:solidFill>
              <a:srgbClr val="FFF4E6"/>
            </a:solidFill>
            <a:prstDash val="solid"/>
          </a:ln>
        </p:spPr>
      </p:sp>
      <p:sp>
        <p:nvSpPr>
          <p:cNvPr id="18" name="Text 16"/>
          <p:cNvSpPr txBox="1"/>
          <p:nvPr/>
        </p:nvSpPr>
        <p:spPr>
          <a:xfrm>
            <a:off x="6419088" y="3246120"/>
            <a:ext cx="5129784" cy="347472"/>
          </a:xfrm>
          <a:prstGeom prst="rect">
            <a:avLst/>
          </a:prstGeom>
          <a:noFill/>
          <a:ln/>
        </p:spPr>
        <p:txBody>
          <a:bodyPr wrap="square" lIns="0" tIns="0" rIns="0" bIns="0" rtlCol="0" anchor="ctr"/>
          <a:lstStyle/>
          <a:p>
            <a:pPr indent="0" marL="0">
              <a:buNone/>
            </a:pPr>
            <a:r>
              <a:rPr lang="en-US" sz="1800" b="1" dirty="0">
                <a:solidFill>
                  <a:srgbClr val="E67700"/>
                </a:solidFill>
                <a:latin typeface="Arial" pitchFamily="34" charset="0"/>
                <a:ea typeface="Arial" pitchFamily="34" charset="-122"/>
                <a:cs typeface="Arial" pitchFamily="34" charset="-120"/>
              </a:rPr>
              <a:t>Why recompute and not Mooncake</a:t>
            </a:r>
            <a:endParaRPr lang="en-US" sz="1800" dirty="0"/>
          </a:p>
        </p:txBody>
      </p:sp>
      <p:sp>
        <p:nvSpPr>
          <p:cNvPr id="19" name="Text 17"/>
          <p:cNvSpPr txBox="1"/>
          <p:nvPr/>
        </p:nvSpPr>
        <p:spPr>
          <a:xfrm>
            <a:off x="6419088" y="3657600"/>
            <a:ext cx="5129784" cy="2679192"/>
          </a:xfrm>
          <a:prstGeom prst="rect">
            <a:avLst/>
          </a:prstGeom>
          <a:noFill/>
          <a:ln/>
        </p:spPr>
        <p:txBody>
          <a:bodyPr wrap="square" lIns="0" tIns="0" rIns="0" bIns="0" rtlCol="0" anchor="t"/>
          <a:lstStyle/>
          <a:p>
            <a:pPr indent="0" marL="0">
              <a:spcAft>
                <a:spcPts val="500"/>
              </a:spcAft>
              <a:buNone/>
            </a:pPr>
            <a:r>
              <a:rPr lang="en-US" sz="1450" dirty="0">
                <a:solidFill>
                  <a:srgbClr val="1E2530"/>
                </a:solidFill>
                <a:latin typeface="Arial" pitchFamily="34" charset="0"/>
                <a:ea typeface="Arial" pitchFamily="34" charset="-122"/>
                <a:cs typeface="Arial" pitchFamily="34" charset="-120"/>
              </a:rPr>
              <a:t>A hop costs ~40-55 ms, once.</a:t>
            </a:r>
            <a:endParaRPr lang="en-US" sz="1450" dirty="0"/>
          </a:p>
          <a:p>
            <a:pPr indent="0" marL="0">
              <a:spcAft>
                <a:spcPts val="500"/>
              </a:spcAft>
              <a:buNone/>
            </a:pPr>
            <a:r>
              <a:rPr lang="en-US" sz="1450" dirty="0">
                <a:solidFill>
                  <a:srgbClr val="1E2530"/>
                </a:solidFill>
                <a:latin typeface="Arial" pitchFamily="34" charset="0"/>
                <a:ea typeface="Arial" pitchFamily="34" charset="-122"/>
                <a:cs typeface="Arial" pitchFamily="34" charset="-120"/>
              </a:rPr>
              <a:t>Upper bound of the saving: ~0.1 s per 3 minutes.</a:t>
            </a:r>
            <a:endParaRPr lang="en-US" sz="1450" dirty="0"/>
          </a:p>
          <a:p>
            <a:pPr indent="0" marL="0">
              <a:spcAft>
                <a:spcPts val="500"/>
              </a:spcAft>
              <a:buNone/>
            </a:pPr>
            <a:r>
              <a:rPr lang="en-US" sz="1450" dirty="0">
                <a:solidFill>
                  <a:srgbClr val="1E2530"/>
                </a:solidFill>
                <a:latin typeface="Arial" pitchFamily="34" charset="0"/>
                <a:ea typeface="Arial" pitchFamily="34" charset="-122"/>
                <a:cs typeface="Arial" pitchFamily="34" charset="-120"/>
              </a:rPr>
              <a:t>The prefix is ~246 MB of KV; a transfer must beat ~5.5 GB/s to win. Over TCP it would be slower.</a:t>
            </a:r>
            <a:endParaRPr lang="en-US" sz="1450" dirty="0"/>
          </a:p>
          <a:p>
            <a:pPr indent="0" marL="0">
              <a:spcAft>
                <a:spcPts val="500"/>
              </a:spcAft>
              <a:buNone/>
            </a:pPr>
            <a:r>
              <a:rPr lang="en-US" sz="1450" dirty="0">
                <a:solidFill>
                  <a:srgbClr val="1E2530"/>
                </a:solidFill>
                <a:latin typeface="Arial" pitchFamily="34" charset="0"/>
                <a:ea typeface="Arial" pitchFamily="34" charset="-122"/>
                <a:cs typeface="Arial" pitchFamily="34" charset="-120"/>
              </a:rPr>
              <a:t>Pays off for long prefixes or with RDMA. Bandwidths are assumptions.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A worker dies and returns; a client leaves</a:t>
            </a:r>
            <a:endParaRPr lang="en-US" sz="3000" dirty="0"/>
          </a:p>
        </p:txBody>
      </p:sp>
      <p:sp>
        <p:nvSpPr>
          <p:cNvPr id="3" name="Shape 1"/>
          <p:cNvSpPr/>
          <p:nvPr/>
        </p:nvSpPr>
        <p:spPr>
          <a:xfrm>
            <a:off x="10637215" y="384048"/>
            <a:ext cx="1097280"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637215" y="384048"/>
            <a:ext cx="10972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5</a:t>
            </a:r>
            <a:endParaRPr lang="en-US" sz="1200" dirty="0"/>
          </a:p>
        </p:txBody>
      </p:sp>
      <p:pic>
        <p:nvPicPr>
          <p:cNvPr id="5" name="Image 0" descr="/home/markt/dev/maven/abi-aryan/course-assistant/plots/part5-ramp-after-return.png">    </p:cNvPr>
          <p:cNvPicPr>
            <a:picLocks noChangeAspect="1"/>
          </p:cNvPicPr>
          <p:nvPr/>
        </p:nvPicPr>
        <p:blipFill>
          <a:blip r:embed="rId1"/>
          <a:stretch>
            <a:fillRect/>
          </a:stretch>
        </p:blipFill>
        <p:spPr>
          <a:xfrm>
            <a:off x="457200" y="1051560"/>
            <a:ext cx="11274552" cy="4099837"/>
          </a:xfrm>
          <a:prstGeom prst="rect">
            <a:avLst/>
          </a:prstGeom>
        </p:spPr>
      </p:pic>
      <p:sp>
        <p:nvSpPr>
          <p:cNvPr id="6" name="Shape 3"/>
          <p:cNvSpPr/>
          <p:nvPr/>
        </p:nvSpPr>
        <p:spPr>
          <a:xfrm>
            <a:off x="457200" y="5334277"/>
            <a:ext cx="3575304" cy="1203683"/>
          </a:xfrm>
          <a:prstGeom prst="roundRect">
            <a:avLst>
              <a:gd name="adj" fmla="val 9116"/>
            </a:avLst>
          </a:prstGeom>
          <a:solidFill>
            <a:srgbClr val="EBFBEE"/>
          </a:solidFill>
          <a:ln w="12700">
            <a:solidFill>
              <a:srgbClr val="EBFBEE"/>
            </a:solidFill>
            <a:prstDash val="solid"/>
          </a:ln>
        </p:spPr>
      </p:sp>
      <p:sp>
        <p:nvSpPr>
          <p:cNvPr id="7" name="Text 4"/>
          <p:cNvSpPr txBox="1"/>
          <p:nvPr/>
        </p:nvSpPr>
        <p:spPr>
          <a:xfrm>
            <a:off x="640080" y="5471437"/>
            <a:ext cx="3209544" cy="347472"/>
          </a:xfrm>
          <a:prstGeom prst="rect">
            <a:avLst/>
          </a:prstGeom>
          <a:noFill/>
          <a:ln/>
        </p:spPr>
        <p:txBody>
          <a:bodyPr wrap="square" lIns="0" tIns="0" rIns="0" bIns="0" rtlCol="0" anchor="ctr"/>
          <a:lstStyle/>
          <a:p>
            <a:pPr indent="0" marL="0">
              <a:buNone/>
            </a:pPr>
            <a:r>
              <a:rPr lang="en-US" sz="1500" b="1" dirty="0">
                <a:solidFill>
                  <a:srgbClr val="2F9E44"/>
                </a:solidFill>
                <a:latin typeface="Arial" pitchFamily="34" charset="0"/>
                <a:ea typeface="Arial" pitchFamily="34" charset="-122"/>
                <a:cs typeface="Arial" pitchFamily="34" charset="-120"/>
              </a:rPr>
              <a:t>Ramp, not slam</a:t>
            </a:r>
            <a:endParaRPr lang="en-US" sz="1500" dirty="0"/>
          </a:p>
        </p:txBody>
      </p:sp>
      <p:sp>
        <p:nvSpPr>
          <p:cNvPr id="8" name="Text 5"/>
          <p:cNvSpPr txBox="1"/>
          <p:nvPr/>
        </p:nvSpPr>
        <p:spPr>
          <a:xfrm>
            <a:off x="640080" y="5882917"/>
            <a:ext cx="3209544" cy="545315"/>
          </a:xfrm>
          <a:prstGeom prst="rect">
            <a:avLst/>
          </a:prstGeom>
          <a:noFill/>
          <a:ln/>
        </p:spPr>
        <p:txBody>
          <a:bodyPr wrap="square" lIns="0" tIns="0" rIns="0" bIns="0" rtlCol="0" anchor="t"/>
          <a:lstStyle/>
          <a:p>
            <a:pPr indent="0" marL="0">
              <a:spcAft>
                <a:spcPts val="500"/>
              </a:spcAft>
              <a:buNone/>
            </a:pPr>
            <a:r>
              <a:rPr lang="en-US" sz="1200" dirty="0">
                <a:solidFill>
                  <a:srgbClr val="1E2530"/>
                </a:solidFill>
                <a:latin typeface="Arial" pitchFamily="34" charset="0"/>
                <a:ea typeface="Arial" pitchFamily="34" charset="-122"/>
                <a:cs typeface="Arial" pitchFamily="34" charset="-120"/>
              </a:rPr>
              <a:t>1,200 / 1,200 requests OK. Returning worker: 0 user requests for 19 s, then its normal share.</a:t>
            </a:r>
            <a:endParaRPr lang="en-US" sz="1200" dirty="0"/>
          </a:p>
        </p:txBody>
      </p:sp>
      <p:sp>
        <p:nvSpPr>
          <p:cNvPr id="9" name="Shape 6"/>
          <p:cNvSpPr/>
          <p:nvPr/>
        </p:nvSpPr>
        <p:spPr>
          <a:xfrm>
            <a:off x="4306824" y="5334277"/>
            <a:ext cx="3575304" cy="1203683"/>
          </a:xfrm>
          <a:prstGeom prst="roundRect">
            <a:avLst>
              <a:gd name="adj" fmla="val 9116"/>
            </a:avLst>
          </a:prstGeom>
          <a:solidFill>
            <a:srgbClr val="FFF5F5"/>
          </a:solidFill>
          <a:ln w="12700">
            <a:solidFill>
              <a:srgbClr val="FFF5F5"/>
            </a:solidFill>
            <a:prstDash val="solid"/>
          </a:ln>
        </p:spPr>
      </p:sp>
      <p:sp>
        <p:nvSpPr>
          <p:cNvPr id="10" name="Text 7"/>
          <p:cNvSpPr txBox="1"/>
          <p:nvPr/>
        </p:nvSpPr>
        <p:spPr>
          <a:xfrm>
            <a:off x="4489704" y="5471437"/>
            <a:ext cx="3209544" cy="347472"/>
          </a:xfrm>
          <a:prstGeom prst="rect">
            <a:avLst/>
          </a:prstGeom>
          <a:noFill/>
          <a:ln/>
        </p:spPr>
        <p:txBody>
          <a:bodyPr wrap="square" lIns="0" tIns="0" rIns="0" bIns="0" rtlCol="0" anchor="ctr"/>
          <a:lstStyle/>
          <a:p>
            <a:pPr indent="0" marL="0">
              <a:buNone/>
            </a:pPr>
            <a:r>
              <a:rPr lang="en-US" sz="1500" b="1" dirty="0">
                <a:solidFill>
                  <a:srgbClr val="C92A2A"/>
                </a:solidFill>
                <a:latin typeface="Arial" pitchFamily="34" charset="0"/>
                <a:ea typeface="Arial" pitchFamily="34" charset="-122"/>
                <a:cs typeface="Arial" pitchFamily="34" charset="-120"/>
              </a:rPr>
              <a:t>No black hole</a:t>
            </a:r>
            <a:endParaRPr lang="en-US" sz="1500" dirty="0"/>
          </a:p>
        </p:txBody>
      </p:sp>
      <p:sp>
        <p:nvSpPr>
          <p:cNvPr id="11" name="Text 8"/>
          <p:cNvSpPr txBox="1"/>
          <p:nvPr/>
        </p:nvSpPr>
        <p:spPr>
          <a:xfrm>
            <a:off x="4489704" y="5882917"/>
            <a:ext cx="3209544" cy="545315"/>
          </a:xfrm>
          <a:prstGeom prst="rect">
            <a:avLst/>
          </a:prstGeom>
          <a:noFill/>
          <a:ln/>
        </p:spPr>
        <p:txBody>
          <a:bodyPr wrap="square" lIns="0" tIns="0" rIns="0" bIns="0" rtlCol="0" anchor="t"/>
          <a:lstStyle/>
          <a:p>
            <a:pPr indent="0" marL="0">
              <a:spcAft>
                <a:spcPts val="500"/>
              </a:spcAft>
              <a:buNone/>
            </a:pPr>
            <a:r>
              <a:rPr lang="en-US" sz="1200" dirty="0">
                <a:solidFill>
                  <a:srgbClr val="1E2530"/>
                </a:solidFill>
                <a:latin typeface="Arial" pitchFamily="34" charset="0"/>
                <a:ea typeface="Arial" pitchFamily="34" charset="-122"/>
                <a:cs typeface="Arial" pitchFamily="34" charset="-120"/>
              </a:rPr>
              <a:t>A refused connection marks the worker unready at once: 735 -&gt; 0 failed requests.</a:t>
            </a:r>
            <a:endParaRPr lang="en-US" sz="1200" dirty="0"/>
          </a:p>
        </p:txBody>
      </p:sp>
      <p:sp>
        <p:nvSpPr>
          <p:cNvPr id="12" name="Shape 9"/>
          <p:cNvSpPr/>
          <p:nvPr/>
        </p:nvSpPr>
        <p:spPr>
          <a:xfrm>
            <a:off x="8156448" y="5334277"/>
            <a:ext cx="3575304" cy="1203683"/>
          </a:xfrm>
          <a:prstGeom prst="roundRect">
            <a:avLst>
              <a:gd name="adj" fmla="val 9116"/>
            </a:avLst>
          </a:prstGeom>
          <a:solidFill>
            <a:srgbClr val="E7F5FF"/>
          </a:solidFill>
          <a:ln w="12700">
            <a:solidFill>
              <a:srgbClr val="E7F5FF"/>
            </a:solidFill>
            <a:prstDash val="solid"/>
          </a:ln>
        </p:spPr>
      </p:sp>
      <p:sp>
        <p:nvSpPr>
          <p:cNvPr id="13" name="Text 10"/>
          <p:cNvSpPr txBox="1"/>
          <p:nvPr/>
        </p:nvSpPr>
        <p:spPr>
          <a:xfrm>
            <a:off x="8339328" y="5471437"/>
            <a:ext cx="3209544" cy="347472"/>
          </a:xfrm>
          <a:prstGeom prst="rect">
            <a:avLst/>
          </a:prstGeom>
          <a:noFill/>
          <a:ln/>
        </p:spPr>
        <p:txBody>
          <a:bodyPr wrap="square" lIns="0" tIns="0" rIns="0" bIns="0" rtlCol="0" anchor="ctr"/>
          <a:lstStyle/>
          <a:p>
            <a:pPr indent="0" marL="0">
              <a:buNone/>
            </a:pPr>
            <a:r>
              <a:rPr lang="en-US" sz="1500" b="1" dirty="0">
                <a:solidFill>
                  <a:srgbClr val="1971C2"/>
                </a:solidFill>
                <a:latin typeface="Arial" pitchFamily="34" charset="0"/>
                <a:ea typeface="Arial" pitchFamily="34" charset="-122"/>
                <a:cs typeface="Arial" pitchFamily="34" charset="-120"/>
              </a:rPr>
              <a:t>Client gone</a:t>
            </a:r>
            <a:endParaRPr lang="en-US" sz="1500" dirty="0"/>
          </a:p>
        </p:txBody>
      </p:sp>
      <p:sp>
        <p:nvSpPr>
          <p:cNvPr id="14" name="Text 11"/>
          <p:cNvSpPr txBox="1"/>
          <p:nvPr/>
        </p:nvSpPr>
        <p:spPr>
          <a:xfrm>
            <a:off x="8339328" y="5882917"/>
            <a:ext cx="3209544" cy="545315"/>
          </a:xfrm>
          <a:prstGeom prst="rect">
            <a:avLst/>
          </a:prstGeom>
          <a:noFill/>
          <a:ln/>
        </p:spPr>
        <p:txBody>
          <a:bodyPr wrap="square" lIns="0" tIns="0" rIns="0" bIns="0" rtlCol="0" anchor="t"/>
          <a:lstStyle/>
          <a:p>
            <a:pPr indent="0" marL="0">
              <a:spcAft>
                <a:spcPts val="500"/>
              </a:spcAft>
              <a:buNone/>
            </a:pPr>
            <a:r>
              <a:rPr lang="en-US" sz="1200" dirty="0">
                <a:solidFill>
                  <a:srgbClr val="1E2530"/>
                </a:solidFill>
                <a:latin typeface="Arial" pitchFamily="34" charset="0"/>
                <a:ea typeface="Arial" pitchFamily="34" charset="-122"/>
                <a:cs typeface="Arial" pitchFamily="34" charset="-120"/>
              </a:rPr>
              <a:t>Gateway closes the engine stream: running 1 -&gt; 0. Control with the client staying: 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Proof: five numbers</a:t>
            </a:r>
            <a:endParaRPr lang="en-US" sz="3000" dirty="0"/>
          </a:p>
        </p:txBody>
      </p:sp>
      <p:sp>
        <p:nvSpPr>
          <p:cNvPr id="3" name="Shape 1"/>
          <p:cNvSpPr/>
          <p:nvPr/>
        </p:nvSpPr>
        <p:spPr>
          <a:xfrm>
            <a:off x="10637215" y="384048"/>
            <a:ext cx="1097280"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637215" y="384048"/>
            <a:ext cx="10972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8</a:t>
            </a:r>
            <a:endParaRPr lang="en-US" sz="1200" dirty="0"/>
          </a:p>
        </p:txBody>
      </p:sp>
      <p:sp>
        <p:nvSpPr>
          <p:cNvPr id="5" name="Shape 3"/>
          <p:cNvSpPr/>
          <p:nvPr/>
        </p:nvSpPr>
        <p:spPr>
          <a:xfrm>
            <a:off x="457200" y="1143000"/>
            <a:ext cx="2103120" cy="2651760"/>
          </a:xfrm>
          <a:prstGeom prst="roundRect">
            <a:avLst>
              <a:gd name="adj" fmla="val 5217"/>
            </a:avLst>
          </a:prstGeom>
          <a:solidFill>
            <a:srgbClr val="FFF4E6"/>
          </a:solidFill>
          <a:ln w="12700">
            <a:solidFill>
              <a:srgbClr val="FFF4E6"/>
            </a:solidFill>
            <a:prstDash val="solid"/>
          </a:ln>
        </p:spPr>
      </p:sp>
      <p:sp>
        <p:nvSpPr>
          <p:cNvPr id="6" name="Text 4"/>
          <p:cNvSpPr txBox="1"/>
          <p:nvPr/>
        </p:nvSpPr>
        <p:spPr>
          <a:xfrm>
            <a:off x="594360" y="1234440"/>
            <a:ext cx="1828800" cy="1188720"/>
          </a:xfrm>
          <a:prstGeom prst="rect">
            <a:avLst/>
          </a:prstGeom>
          <a:noFill/>
          <a:ln/>
        </p:spPr>
        <p:txBody>
          <a:bodyPr wrap="square" lIns="0" tIns="0" rIns="0" bIns="0" rtlCol="0" anchor="ctr"/>
          <a:lstStyle/>
          <a:p>
            <a:pPr algn="ctr" indent="0" marL="0">
              <a:buNone/>
            </a:pPr>
            <a:r>
              <a:rPr lang="en-US" sz="3000" b="1" dirty="0">
                <a:solidFill>
                  <a:srgbClr val="E67700"/>
                </a:solidFill>
                <a:latin typeface="Arial" pitchFamily="34" charset="0"/>
                <a:ea typeface="Arial" pitchFamily="34" charset="-122"/>
                <a:cs typeface="Arial" pitchFamily="34" charset="-120"/>
              </a:rPr>
              <a:t>3.3x</a:t>
            </a:r>
            <a:endParaRPr lang="en-US" sz="3000" dirty="0"/>
          </a:p>
        </p:txBody>
      </p:sp>
      <p:sp>
        <p:nvSpPr>
          <p:cNvPr id="7" name="Text 5"/>
          <p:cNvSpPr txBox="1"/>
          <p:nvPr/>
        </p:nvSpPr>
        <p:spPr>
          <a:xfrm>
            <a:off x="594360" y="2423160"/>
            <a:ext cx="1828800" cy="1280160"/>
          </a:xfrm>
          <a:prstGeom prst="rect">
            <a:avLst/>
          </a:prstGeom>
          <a:noFill/>
          <a:ln/>
        </p:spPr>
        <p:txBody>
          <a:bodyPr wrap="square" lIns="0" tIns="0" rIns="0" bIns="0" rtlCol="0" anchor="t"/>
          <a:lstStyle/>
          <a:p>
            <a:pPr algn="ctr" indent="0" marL="0">
              <a:buNone/>
            </a:pPr>
            <a:r>
              <a:rPr lang="en-US" sz="1350" dirty="0">
                <a:solidFill>
                  <a:srgbClr val="1E2530"/>
                </a:solidFill>
                <a:latin typeface="Arial" pitchFamily="34" charset="0"/>
                <a:ea typeface="Arial" pitchFamily="34" charset="-122"/>
                <a:cs typeface="Arial" pitchFamily="34" charset="-120"/>
              </a:rPr>
              <a:t>Our own dispatch cap (2) was the first limiter</a:t>
            </a:r>
            <a:endParaRPr lang="en-US" sz="1350" dirty="0"/>
          </a:p>
        </p:txBody>
      </p:sp>
      <p:sp>
        <p:nvSpPr>
          <p:cNvPr id="8" name="Shape 6"/>
          <p:cNvSpPr/>
          <p:nvPr/>
        </p:nvSpPr>
        <p:spPr>
          <a:xfrm>
            <a:off x="2752344" y="1143000"/>
            <a:ext cx="2103120" cy="2651760"/>
          </a:xfrm>
          <a:prstGeom prst="roundRect">
            <a:avLst>
              <a:gd name="adj" fmla="val 5217"/>
            </a:avLst>
          </a:prstGeom>
          <a:solidFill>
            <a:srgbClr val="EBFBEE"/>
          </a:solidFill>
          <a:ln w="12700">
            <a:solidFill>
              <a:srgbClr val="EBFBEE"/>
            </a:solidFill>
            <a:prstDash val="solid"/>
          </a:ln>
        </p:spPr>
      </p:sp>
      <p:sp>
        <p:nvSpPr>
          <p:cNvPr id="9" name="Text 7"/>
          <p:cNvSpPr txBox="1"/>
          <p:nvPr/>
        </p:nvSpPr>
        <p:spPr>
          <a:xfrm>
            <a:off x="2889504" y="1234440"/>
            <a:ext cx="1828800" cy="1188720"/>
          </a:xfrm>
          <a:prstGeom prst="rect">
            <a:avLst/>
          </a:prstGeom>
          <a:noFill/>
          <a:ln/>
        </p:spPr>
        <p:txBody>
          <a:bodyPr wrap="square" lIns="0" tIns="0" rIns="0" bIns="0" rtlCol="0" anchor="ctr"/>
          <a:lstStyle/>
          <a:p>
            <a:pPr algn="ctr" indent="0" marL="0">
              <a:buNone/>
            </a:pPr>
            <a:r>
              <a:rPr lang="en-US" sz="3000" b="1" dirty="0">
                <a:solidFill>
                  <a:srgbClr val="2F9E44"/>
                </a:solidFill>
                <a:latin typeface="Arial" pitchFamily="34" charset="0"/>
                <a:ea typeface="Arial" pitchFamily="34" charset="-122"/>
                <a:cs typeface="Arial" pitchFamily="34" charset="-120"/>
              </a:rPr>
              <a:t>8.8 %</a:t>
            </a:r>
            <a:endParaRPr lang="en-US" sz="3000" dirty="0"/>
          </a:p>
        </p:txBody>
      </p:sp>
      <p:sp>
        <p:nvSpPr>
          <p:cNvPr id="10" name="Text 8"/>
          <p:cNvSpPr txBox="1"/>
          <p:nvPr/>
        </p:nvSpPr>
        <p:spPr>
          <a:xfrm>
            <a:off x="2889504" y="2423160"/>
            <a:ext cx="1828800" cy="1280160"/>
          </a:xfrm>
          <a:prstGeom prst="rect">
            <a:avLst/>
          </a:prstGeom>
          <a:noFill/>
          <a:ln/>
        </p:spPr>
        <p:txBody>
          <a:bodyPr wrap="square" lIns="0" tIns="0" rIns="0" bIns="0" rtlCol="0" anchor="t"/>
          <a:lstStyle/>
          <a:p>
            <a:pPr algn="ctr" indent="0" marL="0">
              <a:buNone/>
            </a:pPr>
            <a:r>
              <a:rPr lang="en-US" sz="1350" dirty="0">
                <a:solidFill>
                  <a:srgbClr val="1E2530"/>
                </a:solidFill>
                <a:latin typeface="Arial" pitchFamily="34" charset="0"/>
                <a:ea typeface="Arial" pitchFamily="34" charset="-122"/>
                <a:cs typeface="Arial" pitchFamily="34" charset="-120"/>
              </a:rPr>
              <a:t>Peak KV: never the limiter. 0 retractions</a:t>
            </a:r>
            <a:endParaRPr lang="en-US" sz="1350" dirty="0"/>
          </a:p>
        </p:txBody>
      </p:sp>
      <p:sp>
        <p:nvSpPr>
          <p:cNvPr id="11" name="Shape 9"/>
          <p:cNvSpPr/>
          <p:nvPr/>
        </p:nvSpPr>
        <p:spPr>
          <a:xfrm>
            <a:off x="5047488" y="1143000"/>
            <a:ext cx="2103120" cy="2651760"/>
          </a:xfrm>
          <a:prstGeom prst="roundRect">
            <a:avLst>
              <a:gd name="adj" fmla="val 5217"/>
            </a:avLst>
          </a:prstGeom>
          <a:solidFill>
            <a:srgbClr val="E7F5FF"/>
          </a:solidFill>
          <a:ln w="12700">
            <a:solidFill>
              <a:srgbClr val="E7F5FF"/>
            </a:solidFill>
            <a:prstDash val="solid"/>
          </a:ln>
        </p:spPr>
      </p:sp>
      <p:sp>
        <p:nvSpPr>
          <p:cNvPr id="12" name="Text 10"/>
          <p:cNvSpPr txBox="1"/>
          <p:nvPr/>
        </p:nvSpPr>
        <p:spPr>
          <a:xfrm>
            <a:off x="5184648" y="1234440"/>
            <a:ext cx="1828800" cy="1188720"/>
          </a:xfrm>
          <a:prstGeom prst="rect">
            <a:avLst/>
          </a:prstGeom>
          <a:noFill/>
          <a:ln/>
        </p:spPr>
        <p:txBody>
          <a:bodyPr wrap="square" lIns="0" tIns="0" rIns="0" bIns="0" rtlCol="0" anchor="ctr"/>
          <a:lstStyle/>
          <a:p>
            <a:pPr algn="ctr" indent="0" marL="0">
              <a:buNone/>
            </a:pPr>
            <a:r>
              <a:rPr lang="en-US" sz="3000" b="1" dirty="0">
                <a:solidFill>
                  <a:srgbClr val="1971C2"/>
                </a:solidFill>
                <a:latin typeface="Arial" pitchFamily="34" charset="0"/>
                <a:ea typeface="Arial" pitchFamily="34" charset="-122"/>
                <a:cs typeface="Arial" pitchFamily="34" charset="-120"/>
              </a:rPr>
              <a:t>76 x 429</a:t>
            </a:r>
            <a:endParaRPr lang="en-US" sz="3000" dirty="0"/>
          </a:p>
        </p:txBody>
      </p:sp>
      <p:sp>
        <p:nvSpPr>
          <p:cNvPr id="13" name="Text 11"/>
          <p:cNvSpPr txBox="1"/>
          <p:nvPr/>
        </p:nvSpPr>
        <p:spPr>
          <a:xfrm>
            <a:off x="5184648" y="2423160"/>
            <a:ext cx="1828800" cy="1280160"/>
          </a:xfrm>
          <a:prstGeom prst="rect">
            <a:avLst/>
          </a:prstGeom>
          <a:noFill/>
          <a:ln/>
        </p:spPr>
        <p:txBody>
          <a:bodyPr wrap="square" lIns="0" tIns="0" rIns="0" bIns="0" rtlCol="0" anchor="t"/>
          <a:lstStyle/>
          <a:p>
            <a:pPr algn="ctr" indent="0" marL="0">
              <a:buNone/>
            </a:pPr>
            <a:r>
              <a:rPr lang="en-US" sz="1350" dirty="0">
                <a:solidFill>
                  <a:srgbClr val="1E2530"/>
                </a:solidFill>
                <a:latin typeface="Arial" pitchFamily="34" charset="0"/>
                <a:ea typeface="Arial" pitchFamily="34" charset="-122"/>
                <a:cs typeface="Arial" pitchFamily="34" charset="-120"/>
              </a:rPr>
              <a:t>Only on tenant revision-batch. Interactive: 0 failures</a:t>
            </a:r>
            <a:endParaRPr lang="en-US" sz="1350" dirty="0"/>
          </a:p>
        </p:txBody>
      </p:sp>
      <p:sp>
        <p:nvSpPr>
          <p:cNvPr id="14" name="Shape 12"/>
          <p:cNvSpPr/>
          <p:nvPr/>
        </p:nvSpPr>
        <p:spPr>
          <a:xfrm>
            <a:off x="7342632" y="1143000"/>
            <a:ext cx="2103120" cy="2651760"/>
          </a:xfrm>
          <a:prstGeom prst="roundRect">
            <a:avLst>
              <a:gd name="adj" fmla="val 5217"/>
            </a:avLst>
          </a:prstGeom>
          <a:solidFill>
            <a:srgbClr val="FFF5F5"/>
          </a:solidFill>
          <a:ln w="12700">
            <a:solidFill>
              <a:srgbClr val="FFF5F5"/>
            </a:solidFill>
            <a:prstDash val="solid"/>
          </a:ln>
        </p:spPr>
      </p:sp>
      <p:sp>
        <p:nvSpPr>
          <p:cNvPr id="15" name="Text 13"/>
          <p:cNvSpPr txBox="1"/>
          <p:nvPr/>
        </p:nvSpPr>
        <p:spPr>
          <a:xfrm>
            <a:off x="7479792" y="1234440"/>
            <a:ext cx="1828800" cy="1188720"/>
          </a:xfrm>
          <a:prstGeom prst="rect">
            <a:avLst/>
          </a:prstGeom>
          <a:noFill/>
          <a:ln/>
        </p:spPr>
        <p:txBody>
          <a:bodyPr wrap="square" lIns="0" tIns="0" rIns="0" bIns="0" rtlCol="0" anchor="ctr"/>
          <a:lstStyle/>
          <a:p>
            <a:pPr algn="ctr" indent="0" marL="0">
              <a:buNone/>
            </a:pPr>
            <a:r>
              <a:rPr lang="en-US" sz="3000" b="1" dirty="0">
                <a:solidFill>
                  <a:srgbClr val="C92A2A"/>
                </a:solidFill>
                <a:latin typeface="Arial" pitchFamily="34" charset="0"/>
                <a:ea typeface="Arial" pitchFamily="34" charset="-122"/>
                <a:cs typeface="Arial" pitchFamily="34" charset="-120"/>
              </a:rPr>
              <a:t>22-23 ms</a:t>
            </a:r>
            <a:endParaRPr lang="en-US" sz="3000" dirty="0"/>
          </a:p>
        </p:txBody>
      </p:sp>
      <p:sp>
        <p:nvSpPr>
          <p:cNvPr id="16" name="Text 14"/>
          <p:cNvSpPr txBox="1"/>
          <p:nvPr/>
        </p:nvSpPr>
        <p:spPr>
          <a:xfrm>
            <a:off x="7479792" y="2423160"/>
            <a:ext cx="1828800" cy="1280160"/>
          </a:xfrm>
          <a:prstGeom prst="rect">
            <a:avLst/>
          </a:prstGeom>
          <a:noFill/>
          <a:ln/>
        </p:spPr>
        <p:txBody>
          <a:bodyPr wrap="square" lIns="0" tIns="0" rIns="0" bIns="0" rtlCol="0" anchor="t"/>
          <a:lstStyle/>
          <a:p>
            <a:pPr algn="ctr" indent="0" marL="0">
              <a:buNone/>
            </a:pPr>
            <a:r>
              <a:rPr lang="en-US" sz="1350" dirty="0">
                <a:solidFill>
                  <a:srgbClr val="1E2530"/>
                </a:solidFill>
                <a:latin typeface="Arial" pitchFamily="34" charset="0"/>
                <a:ea typeface="Arial" pitchFamily="34" charset="-122"/>
                <a:cs typeface="Arial" pitchFamily="34" charset="-120"/>
              </a:rPr>
              <a:t>First request on a fresh worker, down from 54-73 ms</a:t>
            </a:r>
            <a:endParaRPr lang="en-US" sz="1350" dirty="0"/>
          </a:p>
        </p:txBody>
      </p:sp>
      <p:sp>
        <p:nvSpPr>
          <p:cNvPr id="17" name="Shape 15"/>
          <p:cNvSpPr/>
          <p:nvPr/>
        </p:nvSpPr>
        <p:spPr>
          <a:xfrm>
            <a:off x="9637776" y="1143000"/>
            <a:ext cx="2103120" cy="2651760"/>
          </a:xfrm>
          <a:prstGeom prst="roundRect">
            <a:avLst>
              <a:gd name="adj" fmla="val 5217"/>
            </a:avLst>
          </a:prstGeom>
          <a:solidFill>
            <a:srgbClr val="E3FAFC"/>
          </a:solidFill>
          <a:ln w="12700">
            <a:solidFill>
              <a:srgbClr val="E3FAFC"/>
            </a:solidFill>
            <a:prstDash val="solid"/>
          </a:ln>
        </p:spPr>
      </p:sp>
      <p:sp>
        <p:nvSpPr>
          <p:cNvPr id="18" name="Text 16"/>
          <p:cNvSpPr txBox="1"/>
          <p:nvPr/>
        </p:nvSpPr>
        <p:spPr>
          <a:xfrm>
            <a:off x="9774936" y="1234440"/>
            <a:ext cx="1828800" cy="1188720"/>
          </a:xfrm>
          <a:prstGeom prst="rect">
            <a:avLst/>
          </a:prstGeom>
          <a:noFill/>
          <a:ln/>
        </p:spPr>
        <p:txBody>
          <a:bodyPr wrap="square" lIns="0" tIns="0" rIns="0" bIns="0" rtlCol="0" anchor="ctr"/>
          <a:lstStyle/>
          <a:p>
            <a:pPr algn="ctr" indent="0" marL="0">
              <a:buNone/>
            </a:pPr>
            <a:r>
              <a:rPr lang="en-US" sz="3000" b="1" dirty="0">
                <a:solidFill>
                  <a:srgbClr val="0C8599"/>
                </a:solidFill>
                <a:latin typeface="Arial" pitchFamily="34" charset="0"/>
                <a:ea typeface="Arial" pitchFamily="34" charset="-122"/>
                <a:cs typeface="Arial" pitchFamily="34" charset="-120"/>
              </a:rPr>
              <a:t>399 -&gt; 2</a:t>
            </a:r>
            <a:endParaRPr lang="en-US" sz="3000" dirty="0"/>
          </a:p>
        </p:txBody>
      </p:sp>
      <p:sp>
        <p:nvSpPr>
          <p:cNvPr id="19" name="Text 17"/>
          <p:cNvSpPr txBox="1"/>
          <p:nvPr/>
        </p:nvSpPr>
        <p:spPr>
          <a:xfrm>
            <a:off x="9774936" y="2423160"/>
            <a:ext cx="1828800" cy="1280160"/>
          </a:xfrm>
          <a:prstGeom prst="rect">
            <a:avLst/>
          </a:prstGeom>
          <a:noFill/>
          <a:ln/>
        </p:spPr>
        <p:txBody>
          <a:bodyPr wrap="square" lIns="0" tIns="0" rIns="0" bIns="0" rtlCol="0" anchor="t"/>
          <a:lstStyle/>
          <a:p>
            <a:pPr algn="ctr" indent="0" marL="0">
              <a:buNone/>
            </a:pPr>
            <a:r>
              <a:rPr lang="en-US" sz="1350" dirty="0">
                <a:solidFill>
                  <a:srgbClr val="1E2530"/>
                </a:solidFill>
                <a:latin typeface="Arial" pitchFamily="34" charset="0"/>
                <a:ea typeface="Arial" pitchFamily="34" charset="-122"/>
                <a:cs typeface="Arial" pitchFamily="34" charset="-120"/>
              </a:rPr>
              <a:t>Hops: the prefix stays on the worker that holds it</a:t>
            </a:r>
            <a:endParaRPr lang="en-US" sz="1350" dirty="0"/>
          </a:p>
        </p:txBody>
      </p:sp>
      <p:sp>
        <p:nvSpPr>
          <p:cNvPr id="20" name="Shape 18"/>
          <p:cNvSpPr/>
          <p:nvPr/>
        </p:nvSpPr>
        <p:spPr>
          <a:xfrm>
            <a:off x="457200" y="4069080"/>
            <a:ext cx="3575304" cy="2377440"/>
          </a:xfrm>
          <a:prstGeom prst="roundRect">
            <a:avLst>
              <a:gd name="adj" fmla="val 4615"/>
            </a:avLst>
          </a:prstGeom>
          <a:solidFill>
            <a:srgbClr val="F3F5F7"/>
          </a:solidFill>
          <a:ln w="12700">
            <a:solidFill>
              <a:srgbClr val="F3F5F7"/>
            </a:solidFill>
            <a:prstDash val="solid"/>
          </a:ln>
        </p:spPr>
      </p:sp>
      <p:sp>
        <p:nvSpPr>
          <p:cNvPr id="21" name="Text 19"/>
          <p:cNvSpPr txBox="1"/>
          <p:nvPr/>
        </p:nvSpPr>
        <p:spPr>
          <a:xfrm>
            <a:off x="640080" y="4206240"/>
            <a:ext cx="3209544" cy="347472"/>
          </a:xfrm>
          <a:prstGeom prst="rect">
            <a:avLst/>
          </a:prstGeom>
          <a:noFill/>
          <a:ln/>
        </p:spPr>
        <p:txBody>
          <a:bodyPr wrap="square" lIns="0" tIns="0" rIns="0" bIns="0" rtlCol="0" anchor="ctr"/>
          <a:lstStyle/>
          <a:p>
            <a:pPr indent="0" marL="0">
              <a:buNone/>
            </a:pPr>
            <a:r>
              <a:rPr lang="en-US" sz="1700" b="1" dirty="0">
                <a:solidFill>
                  <a:srgbClr val="1E2530"/>
                </a:solidFill>
                <a:latin typeface="Arial" pitchFamily="34" charset="0"/>
                <a:ea typeface="Arial" pitchFamily="34" charset="-122"/>
                <a:cs typeface="Arial" pitchFamily="34" charset="-120"/>
              </a:rPr>
              <a:t>The traffic</a:t>
            </a:r>
            <a:endParaRPr lang="en-US" sz="1700" dirty="0"/>
          </a:p>
        </p:txBody>
      </p:sp>
      <p:sp>
        <p:nvSpPr>
          <p:cNvPr id="22" name="Text 20"/>
          <p:cNvSpPr txBox="1"/>
          <p:nvPr/>
        </p:nvSpPr>
        <p:spPr>
          <a:xfrm>
            <a:off x="640080" y="4617720"/>
            <a:ext cx="3209544" cy="1719072"/>
          </a:xfrm>
          <a:prstGeom prst="rect">
            <a:avLst/>
          </a:prstGeom>
          <a:noFill/>
          <a:ln/>
        </p:spPr>
        <p:txBody>
          <a:bodyPr wrap="square" lIns="0" tIns="0" rIns="0" bIns="0" rtlCol="0" anchor="t"/>
          <a:lstStyle/>
          <a:p>
            <a:pPr indent="0" marL="0">
              <a:spcAft>
                <a:spcPts val="500"/>
              </a:spcAft>
              <a:buNone/>
            </a:pPr>
            <a:r>
              <a:rPr lang="en-US" sz="1400" dirty="0">
                <a:solidFill>
                  <a:srgbClr val="1E2530"/>
                </a:solidFill>
                <a:latin typeface="Arial" pitchFamily="34" charset="0"/>
                <a:ea typeface="Arial" pitchFamily="34" charset="-122"/>
                <a:cs typeface="Arial" pitchFamily="34" charset="-120"/>
              </a:rPr>
              <a:t>Class 7 mix shaped like the app: 28 interactive, 4 agent and 8 batch users (experiments/locustfile.py).</a:t>
            </a:r>
            <a:endParaRPr lang="en-US" sz="1400" dirty="0"/>
          </a:p>
        </p:txBody>
      </p:sp>
      <p:sp>
        <p:nvSpPr>
          <p:cNvPr id="23" name="Shape 21"/>
          <p:cNvSpPr/>
          <p:nvPr/>
        </p:nvSpPr>
        <p:spPr>
          <a:xfrm>
            <a:off x="4306824" y="4069080"/>
            <a:ext cx="3575304" cy="2377440"/>
          </a:xfrm>
          <a:prstGeom prst="roundRect">
            <a:avLst>
              <a:gd name="adj" fmla="val 4615"/>
            </a:avLst>
          </a:prstGeom>
          <a:solidFill>
            <a:srgbClr val="F3F5F7"/>
          </a:solidFill>
          <a:ln w="12700">
            <a:solidFill>
              <a:srgbClr val="F3F5F7"/>
            </a:solidFill>
            <a:prstDash val="solid"/>
          </a:ln>
        </p:spPr>
      </p:sp>
      <p:sp>
        <p:nvSpPr>
          <p:cNvPr id="24" name="Text 22"/>
          <p:cNvSpPr txBox="1"/>
          <p:nvPr/>
        </p:nvSpPr>
        <p:spPr>
          <a:xfrm>
            <a:off x="4489704" y="4206240"/>
            <a:ext cx="3209544" cy="347472"/>
          </a:xfrm>
          <a:prstGeom prst="rect">
            <a:avLst/>
          </a:prstGeom>
          <a:noFill/>
          <a:ln/>
        </p:spPr>
        <p:txBody>
          <a:bodyPr wrap="square" lIns="0" tIns="0" rIns="0" bIns="0" rtlCol="0" anchor="ctr"/>
          <a:lstStyle/>
          <a:p>
            <a:pPr indent="0" marL="0">
              <a:buNone/>
            </a:pPr>
            <a:r>
              <a:rPr lang="en-US" sz="1700" b="1" dirty="0">
                <a:solidFill>
                  <a:srgbClr val="1E2530"/>
                </a:solidFill>
                <a:latin typeface="Arial" pitchFamily="34" charset="0"/>
                <a:ea typeface="Arial" pitchFamily="34" charset="-122"/>
                <a:cs typeface="Arial" pitchFamily="34" charset="-120"/>
              </a:rPr>
              <a:t>The evidence</a:t>
            </a:r>
            <a:endParaRPr lang="en-US" sz="1700" dirty="0"/>
          </a:p>
        </p:txBody>
      </p:sp>
      <p:sp>
        <p:nvSpPr>
          <p:cNvPr id="25" name="Text 23"/>
          <p:cNvSpPr txBox="1"/>
          <p:nvPr/>
        </p:nvSpPr>
        <p:spPr>
          <a:xfrm>
            <a:off x="4489704" y="4617720"/>
            <a:ext cx="3209544" cy="1719072"/>
          </a:xfrm>
          <a:prstGeom prst="rect">
            <a:avLst/>
          </a:prstGeom>
          <a:noFill/>
          <a:ln/>
        </p:spPr>
        <p:txBody>
          <a:bodyPr wrap="square" lIns="0" tIns="0" rIns="0" bIns="0" rtlCol="0" anchor="t"/>
          <a:lstStyle/>
          <a:p>
            <a:pPr indent="0" marL="0">
              <a:spcAft>
                <a:spcPts val="500"/>
              </a:spcAft>
              <a:buNone/>
            </a:pPr>
            <a:r>
              <a:rPr lang="en-US" sz="1400" dirty="0">
                <a:solidFill>
                  <a:srgbClr val="1E2530"/>
                </a:solidFill>
                <a:latin typeface="Arial" pitchFamily="34" charset="0"/>
                <a:ea typeface="Arial" pitchFamily="34" charset="-122"/>
                <a:cs typeface="Arial" pitchFamily="34" charset="-120"/>
              </a:rPr>
              <a:t>Raw output in metrics/, plots from the cluster in plots/, Part 5 in notebook/part5_queue.ipynb.</a:t>
            </a:r>
            <a:endParaRPr lang="en-US" sz="1400" dirty="0"/>
          </a:p>
        </p:txBody>
      </p:sp>
      <p:sp>
        <p:nvSpPr>
          <p:cNvPr id="26" name="Shape 24"/>
          <p:cNvSpPr/>
          <p:nvPr/>
        </p:nvSpPr>
        <p:spPr>
          <a:xfrm>
            <a:off x="8156448" y="4069080"/>
            <a:ext cx="3575304" cy="2377440"/>
          </a:xfrm>
          <a:prstGeom prst="roundRect">
            <a:avLst>
              <a:gd name="adj" fmla="val 4615"/>
            </a:avLst>
          </a:prstGeom>
          <a:solidFill>
            <a:srgbClr val="F3F5F7"/>
          </a:solidFill>
          <a:ln w="12700">
            <a:solidFill>
              <a:srgbClr val="F3F5F7"/>
            </a:solidFill>
            <a:prstDash val="solid"/>
          </a:ln>
        </p:spPr>
      </p:sp>
      <p:sp>
        <p:nvSpPr>
          <p:cNvPr id="27" name="Text 25"/>
          <p:cNvSpPr txBox="1"/>
          <p:nvPr/>
        </p:nvSpPr>
        <p:spPr>
          <a:xfrm>
            <a:off x="8339328" y="4206240"/>
            <a:ext cx="3209544" cy="347472"/>
          </a:xfrm>
          <a:prstGeom prst="rect">
            <a:avLst/>
          </a:prstGeom>
          <a:noFill/>
          <a:ln/>
        </p:spPr>
        <p:txBody>
          <a:bodyPr wrap="square" lIns="0" tIns="0" rIns="0" bIns="0" rtlCol="0" anchor="ctr"/>
          <a:lstStyle/>
          <a:p>
            <a:pPr indent="0" marL="0">
              <a:buNone/>
            </a:pPr>
            <a:r>
              <a:rPr lang="en-US" sz="1700" b="1" dirty="0">
                <a:solidFill>
                  <a:srgbClr val="1E2530"/>
                </a:solidFill>
                <a:latin typeface="Arial" pitchFamily="34" charset="0"/>
                <a:ea typeface="Arial" pitchFamily="34" charset="-122"/>
                <a:cs typeface="Arial" pitchFamily="34" charset="-120"/>
              </a:rPr>
              <a:t>Not compared</a:t>
            </a:r>
            <a:endParaRPr lang="en-US" sz="1700" dirty="0"/>
          </a:p>
        </p:txBody>
      </p:sp>
      <p:sp>
        <p:nvSpPr>
          <p:cNvPr id="28" name="Text 26"/>
          <p:cNvSpPr txBox="1"/>
          <p:nvPr/>
        </p:nvSpPr>
        <p:spPr>
          <a:xfrm>
            <a:off x="8339328" y="4617720"/>
            <a:ext cx="3209544" cy="1719072"/>
          </a:xfrm>
          <a:prstGeom prst="rect">
            <a:avLst/>
          </a:prstGeom>
          <a:noFill/>
          <a:ln/>
        </p:spPr>
        <p:txBody>
          <a:bodyPr wrap="square" lIns="0" tIns="0" rIns="0" bIns="0" rtlCol="0" anchor="t"/>
          <a:lstStyle/>
          <a:p>
            <a:pPr indent="0" marL="0">
              <a:spcAft>
                <a:spcPts val="500"/>
              </a:spcAft>
              <a:buNone/>
            </a:pPr>
            <a:r>
              <a:rPr lang="en-US" sz="1400" dirty="0">
                <a:solidFill>
                  <a:srgbClr val="1E2530"/>
                </a:solidFill>
                <a:latin typeface="Arial" pitchFamily="34" charset="0"/>
                <a:ea typeface="Arial" pitchFamily="34" charset="-122"/>
                <a:cs typeface="Arial" pitchFamily="34" charset="-120"/>
              </a:rPr>
              <a:t>Latency on the H100 (29 Sep) and the A100 (30 Sep). Only behaviour is compared across GPUs.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Grafana: what each panel proves</a:t>
            </a:r>
            <a:endParaRPr lang="en-US" sz="3000" dirty="0"/>
          </a:p>
        </p:txBody>
      </p:sp>
      <p:sp>
        <p:nvSpPr>
          <p:cNvPr id="3" name="Shape 1"/>
          <p:cNvSpPr/>
          <p:nvPr/>
        </p:nvSpPr>
        <p:spPr>
          <a:xfrm>
            <a:off x="10637215" y="384048"/>
            <a:ext cx="1097280"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637215" y="384048"/>
            <a:ext cx="10972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8</a:t>
            </a:r>
            <a:endParaRPr lang="en-US" sz="1200" dirty="0"/>
          </a:p>
        </p:txBody>
      </p:sp>
      <p:pic>
        <p:nvPicPr>
          <p:cNvPr id="5" name="Image 0" descr="/home/markt/dev/maven/abi-aryan/course-assistant/plots/grafana-2026-09-29/05-load-dispatch8-gateway-engine.png">    </p:cNvPr>
          <p:cNvPicPr>
            <a:picLocks noChangeAspect="1"/>
          </p:cNvPicPr>
          <p:nvPr/>
        </p:nvPicPr>
        <p:blipFill>
          <a:blip r:embed="rId1"/>
          <a:stretch>
            <a:fillRect/>
          </a:stretch>
        </p:blipFill>
        <p:spPr>
          <a:xfrm>
            <a:off x="457200" y="1051560"/>
            <a:ext cx="7223760" cy="2437300"/>
          </a:xfrm>
          <a:prstGeom prst="rect">
            <a:avLst/>
          </a:prstGeom>
        </p:spPr>
      </p:pic>
      <p:pic>
        <p:nvPicPr>
          <p:cNvPr id="6" name="Image 1" descr="/home/markt/dev/maven/abi-aryan/course-assistant/plots/grafana-2026-09-29/04-load-dispatch8-kv-ttft-tokens.png">    </p:cNvPr>
          <p:cNvPicPr>
            <a:picLocks noChangeAspect="1"/>
          </p:cNvPicPr>
          <p:nvPr/>
        </p:nvPicPr>
        <p:blipFill>
          <a:blip r:embed="rId2"/>
          <a:stretch>
            <a:fillRect/>
          </a:stretch>
        </p:blipFill>
        <p:spPr>
          <a:xfrm>
            <a:off x="457200" y="3626020"/>
            <a:ext cx="7223760" cy="2441186"/>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955280" y="1051560"/>
          <a:ext cx="3776472" cy="914400"/>
        </p:xfrm>
        <a:graphic>
          <a:graphicData uri="http://schemas.openxmlformats.org/drawingml/2006/table">
            <a:tbl>
              <a:tblPr/>
              <a:tblGrid>
                <a:gridCol w="1600200"/>
                <a:gridCol w="2176272"/>
              </a:tblGrid>
              <a:tr h="0">
                <a:tc>
                  <a:txBody>
                    <a:bodyPr/>
                    <a:lstStyle/>
                    <a:p>
                      <a:pPr indent="0" marL="0">
                        <a:buNone/>
                      </a:pPr>
                      <a:r>
                        <a:rPr lang="en-US" sz="1050" b="1" dirty="0">
                          <a:solidFill>
                            <a:srgbClr val="FFFFFF"/>
                          </a:solidFill>
                          <a:latin typeface="Arial" pitchFamily="34" charset="0"/>
                          <a:ea typeface="Arial" pitchFamily="34" charset="-122"/>
                          <a:cs typeface="Arial" pitchFamily="34" charset="-120"/>
                        </a:rPr>
                        <a:t>Brief</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Panel</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r>
              <a:tr h="0">
                <a:tc>
                  <a:txBody>
                    <a:bodyPr/>
                    <a:lstStyle/>
                    <a:p>
                      <a:pPr indent="0" marL="0">
                        <a:buNone/>
                      </a:pPr>
                      <a:r>
                        <a:rPr lang="en-US" sz="1050" b="1" dirty="0">
                          <a:solidFill>
                            <a:srgbClr val="1E2530"/>
                          </a:solidFill>
                          <a:latin typeface="Arial" pitchFamily="34" charset="0"/>
                          <a:ea typeface="Arial" pitchFamily="34" charset="-122"/>
                          <a:cs typeface="Arial" pitchFamily="34" charset="-120"/>
                        </a:rPr>
                        <a:t>Cluster</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1E2530"/>
                          </a:solidFill>
                          <a:latin typeface="Arial" pitchFamily="34" charset="0"/>
                          <a:ea typeface="Arial" pitchFamily="34" charset="-122"/>
                          <a:cs typeface="Arial" pitchFamily="34" charset="-120"/>
                        </a:rPr>
                        <a:t>Prometheus scrape status</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E2530"/>
                          </a:solidFill>
                          <a:latin typeface="Arial" pitchFamily="34" charset="0"/>
                          <a:ea typeface="Arial" pitchFamily="34" charset="-122"/>
                          <a:cs typeface="Arial" pitchFamily="34" charset="-120"/>
                        </a:rPr>
                        <a:t>Success and failures</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050" dirty="0">
                          <a:solidFill>
                            <a:srgbClr val="1E2530"/>
                          </a:solidFill>
                          <a:latin typeface="Arial" pitchFamily="34" charset="0"/>
                          <a:ea typeface="Arial" pitchFamily="34" charset="-122"/>
                          <a:cs typeface="Arial" pitchFamily="34" charset="-120"/>
                        </a:rPr>
                        <a:t>Sheds by reason (no status panel yet)</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0">
                <a:tc>
                  <a:txBody>
                    <a:bodyPr/>
                    <a:lstStyle/>
                    <a:p>
                      <a:pPr indent="0" marL="0">
                        <a:buNone/>
                      </a:pPr>
                      <a:r>
                        <a:rPr lang="en-US" sz="1050" b="1" dirty="0">
                          <a:solidFill>
                            <a:srgbClr val="1E2530"/>
                          </a:solidFill>
                          <a:latin typeface="Arial" pitchFamily="34" charset="0"/>
                          <a:ea typeface="Arial" pitchFamily="34" charset="-122"/>
                          <a:cs typeface="Arial" pitchFamily="34" charset="-120"/>
                        </a:rPr>
                        <a:t>Sheds by reason</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1E2530"/>
                          </a:solidFill>
                          <a:latin typeface="Arial" pitchFamily="34" charset="0"/>
                          <a:ea typeface="Arial" pitchFamily="34" charset="-122"/>
                          <a:cs typeface="Arial" pitchFamily="34" charset="-120"/>
                        </a:rPr>
                        <a:t>tenant_tokens, timeout_queue, queue_full</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E2530"/>
                          </a:solidFill>
                          <a:latin typeface="Arial" pitchFamily="34" charset="0"/>
                          <a:ea typeface="Arial" pitchFamily="34" charset="-122"/>
                          <a:cs typeface="Arial" pitchFamily="34" charset="-120"/>
                        </a:rPr>
                        <a:t>Router</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050" dirty="0">
                          <a:solidFill>
                            <a:srgbClr val="1E2530"/>
                          </a:solidFill>
                          <a:latin typeface="Arial" pitchFamily="34" charset="0"/>
                          <a:ea typeface="Arial" pitchFamily="34" charset="-122"/>
                          <a:cs typeface="Arial" pitchFamily="34" charset="-120"/>
                        </a:rPr>
                        <a:t>Placements per worker</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0">
                <a:tc>
                  <a:txBody>
                    <a:bodyPr/>
                    <a:lstStyle/>
                    <a:p>
                      <a:pPr indent="0" marL="0">
                        <a:buNone/>
                      </a:pPr>
                      <a:r>
                        <a:rPr lang="en-US" sz="1050" b="1" dirty="0">
                          <a:solidFill>
                            <a:srgbClr val="1E2530"/>
                          </a:solidFill>
                          <a:latin typeface="Arial" pitchFamily="34" charset="0"/>
                          <a:ea typeface="Arial" pitchFamily="34" charset="-122"/>
                          <a:cs typeface="Arial" pitchFamily="34" charset="-120"/>
                        </a:rPr>
                        <a:t>Queue depth by pod</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1E2530"/>
                          </a:solidFill>
                          <a:latin typeface="Arial" pitchFamily="34" charset="0"/>
                          <a:ea typeface="Arial" pitchFamily="34" charset="-122"/>
                          <a:cs typeface="Arial" pitchFamily="34" charset="-120"/>
                        </a:rPr>
                        <a:t>Gateway queue depth and in flight</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E2530"/>
                          </a:solidFill>
                          <a:latin typeface="Arial" pitchFamily="34" charset="0"/>
                          <a:ea typeface="Arial" pitchFamily="34" charset="-122"/>
                          <a:cs typeface="Arial" pitchFamily="34" charset="-120"/>
                        </a:rPr>
                        <a:t>vLLM</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050" dirty="0">
                          <a:solidFill>
                            <a:srgbClr val="1E2530"/>
                          </a:solidFill>
                          <a:latin typeface="Arial" pitchFamily="34" charset="0"/>
                          <a:ea typeface="Arial" pitchFamily="34" charset="-122"/>
                          <a:cs typeface="Arial" pitchFamily="34" charset="-120"/>
                        </a:rPr>
                        <a:t>SGLang running, queued, KV, TTFT</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0">
                <a:tc>
                  <a:txBody>
                    <a:bodyPr/>
                    <a:lstStyle/>
                    <a:p>
                      <a:pPr indent="0" marL="0">
                        <a:buNone/>
                      </a:pPr>
                      <a:r>
                        <a:rPr lang="en-US" sz="1050" b="1" dirty="0">
                          <a:solidFill>
                            <a:srgbClr val="1E2530"/>
                          </a:solidFill>
                          <a:latin typeface="Arial" pitchFamily="34" charset="0"/>
                          <a:ea typeface="Arial" pitchFamily="34" charset="-122"/>
                          <a:cs typeface="Arial" pitchFamily="34" charset="-120"/>
                        </a:rPr>
                        <a:t>Hop store</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1E2530"/>
                          </a:solidFill>
                          <a:latin typeface="Arial" pitchFamily="34" charset="0"/>
                          <a:ea typeface="Arial" pitchFamily="34" charset="-122"/>
                          <a:cs typeface="Arial" pitchFamily="34" charset="-120"/>
                        </a:rPr>
                        <a:t>KV hops and ledger evictions</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E2530"/>
                          </a:solidFill>
                          <a:latin typeface="Arial" pitchFamily="34" charset="0"/>
                          <a:ea typeface="Arial" pitchFamily="34" charset="-122"/>
                          <a:cs typeface="Arial" pitchFamily="34" charset="-120"/>
                        </a:rPr>
                        <a:t>Replicas / KEDA</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050" dirty="0">
                          <a:solidFill>
                            <a:srgbClr val="1E2530"/>
                          </a:solidFill>
                          <a:latin typeface="Arial" pitchFamily="34" charset="0"/>
                          <a:ea typeface="Arial" pitchFamily="34" charset="-122"/>
                          <a:cs typeface="Arial" pitchFamily="34" charset="-120"/>
                        </a:rPr>
                        <a:t>2 fixed replicas, no scaling</a:t>
                      </a:r>
                      <a:endParaRPr lang="en-US" sz="105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bl>
          </a:graphicData>
        </a:graphic>
      </p:graphicFrame>
      <p:sp>
        <p:nvSpPr>
          <p:cNvPr id="8" name="Shape 3"/>
          <p:cNvSpPr/>
          <p:nvPr/>
        </p:nvSpPr>
        <p:spPr>
          <a:xfrm>
            <a:off x="7955280" y="4572000"/>
            <a:ext cx="3776472" cy="1874520"/>
          </a:xfrm>
          <a:prstGeom prst="roundRect">
            <a:avLst>
              <a:gd name="adj" fmla="val 5854"/>
            </a:avLst>
          </a:prstGeom>
          <a:solidFill>
            <a:srgbClr val="FFF4E6"/>
          </a:solidFill>
          <a:ln w="12700">
            <a:solidFill>
              <a:srgbClr val="FFF4E6"/>
            </a:solidFill>
            <a:prstDash val="solid"/>
          </a:ln>
        </p:spPr>
      </p:sp>
      <p:sp>
        <p:nvSpPr>
          <p:cNvPr id="9" name="Text 4"/>
          <p:cNvSpPr txBox="1"/>
          <p:nvPr/>
        </p:nvSpPr>
        <p:spPr>
          <a:xfrm>
            <a:off x="8138160" y="4709160"/>
            <a:ext cx="3410712" cy="347472"/>
          </a:xfrm>
          <a:prstGeom prst="rect">
            <a:avLst/>
          </a:prstGeom>
          <a:noFill/>
          <a:ln/>
        </p:spPr>
        <p:txBody>
          <a:bodyPr wrap="square" lIns="0" tIns="0" rIns="0" bIns="0" rtlCol="0" anchor="ctr"/>
          <a:lstStyle/>
          <a:p>
            <a:pPr indent="0" marL="0">
              <a:buNone/>
            </a:pPr>
            <a:r>
              <a:rPr lang="en-US" sz="1500" b="1" dirty="0">
                <a:solidFill>
                  <a:srgbClr val="E67700"/>
                </a:solidFill>
                <a:latin typeface="Arial" pitchFamily="34" charset="0"/>
                <a:ea typeface="Arial" pitchFamily="34" charset="-122"/>
                <a:cs typeface="Arial" pitchFamily="34" charset="-120"/>
              </a:rPr>
              <a:t>Under 40 users (A100)</a:t>
            </a:r>
            <a:endParaRPr lang="en-US" sz="1500" dirty="0"/>
          </a:p>
        </p:txBody>
      </p:sp>
      <p:sp>
        <p:nvSpPr>
          <p:cNvPr id="10" name="Text 5"/>
          <p:cNvSpPr txBox="1"/>
          <p:nvPr/>
        </p:nvSpPr>
        <p:spPr>
          <a:xfrm>
            <a:off x="8138160" y="5120640"/>
            <a:ext cx="3410712" cy="1216152"/>
          </a:xfrm>
          <a:prstGeom prst="rect">
            <a:avLst/>
          </a:prstGeom>
          <a:noFill/>
          <a:ln/>
        </p:spPr>
        <p:txBody>
          <a:bodyPr wrap="square" lIns="0" tIns="0" rIns="0" bIns="0" rtlCol="0" anchor="t"/>
          <a:lstStyle/>
          <a:p>
            <a:pPr indent="0" marL="0">
              <a:spcAft>
                <a:spcPts val="500"/>
              </a:spcAft>
              <a:buNone/>
            </a:pPr>
            <a:r>
              <a:rPr lang="en-US" sz="1250" dirty="0">
                <a:solidFill>
                  <a:srgbClr val="1E2530"/>
                </a:solidFill>
                <a:latin typeface="Arial" pitchFamily="34" charset="0"/>
                <a:ea typeface="Arial" pitchFamily="34" charset="-122"/>
                <a:cs typeface="Arial" pitchFamily="34" charset="-120"/>
              </a:rPr>
              <a:t>Engine running 8, engine queue ~0, our queue 10-11, KV 2-5 %, hit rate ~1.0, TTFT p50 1.5 s.</a:t>
            </a:r>
            <a:endParaRPr lang="en-US" sz="1250" dirty="0"/>
          </a:p>
        </p:txBody>
      </p:sp>
      <p:sp>
        <p:nvSpPr>
          <p:cNvPr id="11" name="Text 6"/>
          <p:cNvSpPr txBox="1"/>
          <p:nvPr/>
        </p:nvSpPr>
        <p:spPr>
          <a:xfrm>
            <a:off x="457200" y="6263640"/>
            <a:ext cx="7223760" cy="274320"/>
          </a:xfrm>
          <a:prstGeom prst="rect">
            <a:avLst/>
          </a:prstGeom>
          <a:noFill/>
          <a:ln/>
        </p:spPr>
        <p:txBody>
          <a:bodyPr wrap="square" lIns="0" tIns="0" rIns="0" bIns="0" rtlCol="0" anchor="ctr"/>
          <a:lstStyle/>
          <a:p>
            <a:pPr indent="0" marL="0">
              <a:buNone/>
            </a:pPr>
            <a:r>
              <a:rPr lang="en-US" sz="1100" dirty="0">
                <a:solidFill>
                  <a:srgbClr val="5F6B7A"/>
                </a:solidFill>
                <a:latin typeface="Arial" pitchFamily="34" charset="0"/>
                <a:ea typeface="Arial" pitchFamily="34" charset="-122"/>
                <a:cs typeface="Arial" pitchFamily="34" charset="-120"/>
              </a:rPr>
              <a:t>Screenshots: H100, 29 Sep, dispatch cap 8.</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Four production alerts</a:t>
            </a:r>
            <a:endParaRPr lang="en-US" sz="3000" dirty="0"/>
          </a:p>
        </p:txBody>
      </p:sp>
      <p:sp>
        <p:nvSpPr>
          <p:cNvPr id="3" name="Shape 1"/>
          <p:cNvSpPr/>
          <p:nvPr/>
        </p:nvSpPr>
        <p:spPr>
          <a:xfrm>
            <a:off x="10637215" y="384048"/>
            <a:ext cx="1097280"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637215" y="384048"/>
            <a:ext cx="10972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Q11</a:t>
            </a:r>
            <a:endParaRPr lang="en-US" sz="1200" dirty="0"/>
          </a:p>
        </p:txBody>
      </p:sp>
      <p:sp>
        <p:nvSpPr>
          <p:cNvPr id="5" name="Shape 3"/>
          <p:cNvSpPr/>
          <p:nvPr/>
        </p:nvSpPr>
        <p:spPr>
          <a:xfrm>
            <a:off x="457200" y="1143000"/>
            <a:ext cx="5495544" cy="2194560"/>
          </a:xfrm>
          <a:prstGeom prst="roundRect">
            <a:avLst>
              <a:gd name="adj" fmla="val 5000"/>
            </a:avLst>
          </a:prstGeom>
          <a:solidFill>
            <a:srgbClr val="EBFBEE"/>
          </a:solidFill>
          <a:ln w="12700">
            <a:solidFill>
              <a:srgbClr val="EBFBEE"/>
            </a:solidFill>
            <a:prstDash val="solid"/>
          </a:ln>
        </p:spPr>
      </p:sp>
      <p:sp>
        <p:nvSpPr>
          <p:cNvPr id="6" name="Text 4"/>
          <p:cNvSpPr txBox="1"/>
          <p:nvPr/>
        </p:nvSpPr>
        <p:spPr>
          <a:xfrm>
            <a:off x="640080" y="1280160"/>
            <a:ext cx="5129784" cy="347472"/>
          </a:xfrm>
          <a:prstGeom prst="rect">
            <a:avLst/>
          </a:prstGeom>
          <a:noFill/>
          <a:ln/>
        </p:spPr>
        <p:txBody>
          <a:bodyPr wrap="square" lIns="0" tIns="0" rIns="0" bIns="0" rtlCol="0" anchor="ctr"/>
          <a:lstStyle/>
          <a:p>
            <a:pPr indent="0" marL="0">
              <a:buNone/>
            </a:pPr>
            <a:r>
              <a:rPr lang="en-US" sz="2000" b="1" dirty="0">
                <a:solidFill>
                  <a:srgbClr val="2F9E44"/>
                </a:solidFill>
                <a:latin typeface="Arial" pitchFamily="34" charset="0"/>
                <a:ea typeface="Arial" pitchFamily="34" charset="-122"/>
                <a:cs typeface="Arial" pitchFamily="34" charset="-120"/>
              </a:rPr>
              <a:t>KvCachePressure</a:t>
            </a:r>
            <a:endParaRPr lang="en-US" sz="2000" dirty="0"/>
          </a:p>
        </p:txBody>
      </p:sp>
      <p:sp>
        <p:nvSpPr>
          <p:cNvPr id="7" name="Text 5"/>
          <p:cNvSpPr txBox="1"/>
          <p:nvPr/>
        </p:nvSpPr>
        <p:spPr>
          <a:xfrm>
            <a:off x="640080" y="1691640"/>
            <a:ext cx="5129784" cy="1536192"/>
          </a:xfrm>
          <a:prstGeom prst="rect">
            <a:avLst/>
          </a:prstGeom>
          <a:noFill/>
          <a:ln/>
        </p:spPr>
        <p:txBody>
          <a:bodyPr wrap="square" lIns="0" tIns="0" rIns="0" bIns="0" rtlCol="0" anchor="t"/>
          <a:lstStyle/>
          <a:p>
            <a:pPr indent="0" marL="0">
              <a:spcAft>
                <a:spcPts val="500"/>
              </a:spcAft>
              <a:buNone/>
            </a:pPr>
            <a:r>
              <a:rPr lang="en-US" sz="1600" dirty="0">
                <a:solidFill>
                  <a:srgbClr val="1E2530"/>
                </a:solidFill>
                <a:latin typeface="Arial" pitchFamily="34" charset="0"/>
                <a:ea typeface="Arial" pitchFamily="34" charset="-122"/>
                <a:cs typeface="Arial" pitchFamily="34" charset="-120"/>
              </a:rPr>
              <a:t>KV above 0.85 for 2 min - just under the 0.90 admission limit</a:t>
            </a:r>
            <a:endParaRPr lang="en-US" sz="1600" dirty="0"/>
          </a:p>
          <a:p>
            <a:pPr indent="0" marL="0">
              <a:spcAft>
                <a:spcPts val="500"/>
              </a:spcAft>
              <a:buNone/>
            </a:pPr>
            <a:r>
              <a:rPr lang="en-US" sz="1600" dirty="0">
                <a:solidFill>
                  <a:srgbClr val="1E2530"/>
                </a:solidFill>
                <a:latin typeface="Arial" pitchFamily="34" charset="0"/>
                <a:ea typeface="Arial" pitchFamily="34" charset="-122"/>
                <a:cs typeface="Arial" pitchFamily="34" charset="-120"/>
              </a:rPr>
              <a:t>Live: Never fired: KV at most 8.8 %</a:t>
            </a:r>
            <a:endParaRPr lang="en-US" sz="1600" dirty="0"/>
          </a:p>
        </p:txBody>
      </p:sp>
      <p:sp>
        <p:nvSpPr>
          <p:cNvPr id="8" name="Shape 6"/>
          <p:cNvSpPr/>
          <p:nvPr/>
        </p:nvSpPr>
        <p:spPr>
          <a:xfrm>
            <a:off x="6236208" y="1143000"/>
            <a:ext cx="5495544" cy="2194560"/>
          </a:xfrm>
          <a:prstGeom prst="roundRect">
            <a:avLst>
              <a:gd name="adj" fmla="val 5000"/>
            </a:avLst>
          </a:prstGeom>
          <a:solidFill>
            <a:srgbClr val="FFF5F5"/>
          </a:solidFill>
          <a:ln w="12700">
            <a:solidFill>
              <a:srgbClr val="FFF5F5"/>
            </a:solidFill>
            <a:prstDash val="solid"/>
          </a:ln>
        </p:spPr>
      </p:sp>
      <p:sp>
        <p:nvSpPr>
          <p:cNvPr id="9" name="Text 7"/>
          <p:cNvSpPr txBox="1"/>
          <p:nvPr/>
        </p:nvSpPr>
        <p:spPr>
          <a:xfrm>
            <a:off x="6419088" y="1280160"/>
            <a:ext cx="5129784" cy="347472"/>
          </a:xfrm>
          <a:prstGeom prst="rect">
            <a:avLst/>
          </a:prstGeom>
          <a:noFill/>
          <a:ln/>
        </p:spPr>
        <p:txBody>
          <a:bodyPr wrap="square" lIns="0" tIns="0" rIns="0" bIns="0" rtlCol="0" anchor="ctr"/>
          <a:lstStyle/>
          <a:p>
            <a:pPr indent="0" marL="0">
              <a:buNone/>
            </a:pPr>
            <a:r>
              <a:rPr lang="en-US" sz="2000" b="1" dirty="0">
                <a:solidFill>
                  <a:srgbClr val="C92A2A"/>
                </a:solidFill>
                <a:latin typeface="Arial" pitchFamily="34" charset="0"/>
                <a:ea typeface="Arial" pitchFamily="34" charset="-122"/>
                <a:cs typeface="Arial" pitchFamily="34" charset="-120"/>
              </a:rPr>
              <a:t>TtftSloBreach</a:t>
            </a:r>
            <a:endParaRPr lang="en-US" sz="2000" dirty="0"/>
          </a:p>
        </p:txBody>
      </p:sp>
      <p:sp>
        <p:nvSpPr>
          <p:cNvPr id="10" name="Text 8"/>
          <p:cNvSpPr txBox="1"/>
          <p:nvPr/>
        </p:nvSpPr>
        <p:spPr>
          <a:xfrm>
            <a:off x="6419088" y="1691640"/>
            <a:ext cx="5129784" cy="1536192"/>
          </a:xfrm>
          <a:prstGeom prst="rect">
            <a:avLst/>
          </a:prstGeom>
          <a:noFill/>
          <a:ln/>
        </p:spPr>
        <p:txBody>
          <a:bodyPr wrap="square" lIns="0" tIns="0" rIns="0" bIns="0" rtlCol="0" anchor="t"/>
          <a:lstStyle/>
          <a:p>
            <a:pPr indent="0" marL="0">
              <a:spcAft>
                <a:spcPts val="500"/>
              </a:spcAft>
              <a:buNone/>
            </a:pPr>
            <a:r>
              <a:rPr lang="en-US" sz="1600" dirty="0">
                <a:solidFill>
                  <a:srgbClr val="1E2530"/>
                </a:solidFill>
                <a:latin typeface="Arial" pitchFamily="34" charset="0"/>
                <a:ea typeface="Arial" pitchFamily="34" charset="-122"/>
                <a:cs typeface="Arial" pitchFamily="34" charset="-120"/>
              </a:rPr>
              <a:t>Engine p99 TTFT above 1 s for 5 min</a:t>
            </a:r>
            <a:endParaRPr lang="en-US" sz="1600" dirty="0"/>
          </a:p>
          <a:p>
            <a:pPr indent="0" marL="0">
              <a:spcAft>
                <a:spcPts val="500"/>
              </a:spcAft>
              <a:buNone/>
            </a:pPr>
            <a:r>
              <a:rPr lang="en-US" sz="1600" dirty="0">
                <a:solidFill>
                  <a:srgbClr val="1E2530"/>
                </a:solidFill>
                <a:latin typeface="Arial" pitchFamily="34" charset="0"/>
                <a:ea typeface="Arial" pitchFamily="34" charset="-122"/>
                <a:cs typeface="Arial" pitchFamily="34" charset="-120"/>
              </a:rPr>
              <a:t>Live: Fired on both workers under load</a:t>
            </a:r>
            <a:endParaRPr lang="en-US" sz="1600" dirty="0"/>
          </a:p>
        </p:txBody>
      </p:sp>
      <p:sp>
        <p:nvSpPr>
          <p:cNvPr id="11" name="Shape 9"/>
          <p:cNvSpPr/>
          <p:nvPr/>
        </p:nvSpPr>
        <p:spPr>
          <a:xfrm>
            <a:off x="457200" y="3566160"/>
            <a:ext cx="5495544" cy="2194560"/>
          </a:xfrm>
          <a:prstGeom prst="roundRect">
            <a:avLst>
              <a:gd name="adj" fmla="val 5000"/>
            </a:avLst>
          </a:prstGeom>
          <a:solidFill>
            <a:srgbClr val="FFF4E6"/>
          </a:solidFill>
          <a:ln w="12700">
            <a:solidFill>
              <a:srgbClr val="FFF4E6"/>
            </a:solidFill>
            <a:prstDash val="solid"/>
          </a:ln>
        </p:spPr>
      </p:sp>
      <p:sp>
        <p:nvSpPr>
          <p:cNvPr id="12" name="Text 10"/>
          <p:cNvSpPr txBox="1"/>
          <p:nvPr/>
        </p:nvSpPr>
        <p:spPr>
          <a:xfrm>
            <a:off x="640080" y="3703320"/>
            <a:ext cx="5129784" cy="347472"/>
          </a:xfrm>
          <a:prstGeom prst="rect">
            <a:avLst/>
          </a:prstGeom>
          <a:noFill/>
          <a:ln/>
        </p:spPr>
        <p:txBody>
          <a:bodyPr wrap="square" lIns="0" tIns="0" rIns="0" bIns="0" rtlCol="0" anchor="ctr"/>
          <a:lstStyle/>
          <a:p>
            <a:pPr indent="0" marL="0">
              <a:buNone/>
            </a:pPr>
            <a:r>
              <a:rPr lang="en-US" sz="2000" b="1" dirty="0">
                <a:solidFill>
                  <a:srgbClr val="E67700"/>
                </a:solidFill>
                <a:latin typeface="Arial" pitchFamily="34" charset="0"/>
                <a:ea typeface="Arial" pitchFamily="34" charset="-122"/>
                <a:cs typeface="Arial" pitchFamily="34" charset="-120"/>
              </a:rPr>
              <a:t>HighShedRate</a:t>
            </a:r>
            <a:endParaRPr lang="en-US" sz="2000" dirty="0"/>
          </a:p>
        </p:txBody>
      </p:sp>
      <p:sp>
        <p:nvSpPr>
          <p:cNvPr id="13" name="Text 11"/>
          <p:cNvSpPr txBox="1"/>
          <p:nvPr/>
        </p:nvSpPr>
        <p:spPr>
          <a:xfrm>
            <a:off x="640080" y="4114800"/>
            <a:ext cx="5129784" cy="1536192"/>
          </a:xfrm>
          <a:prstGeom prst="rect">
            <a:avLst/>
          </a:prstGeom>
          <a:noFill/>
          <a:ln/>
        </p:spPr>
        <p:txBody>
          <a:bodyPr wrap="square" lIns="0" tIns="0" rIns="0" bIns="0" rtlCol="0" anchor="t"/>
          <a:lstStyle/>
          <a:p>
            <a:pPr indent="0" marL="0">
              <a:spcAft>
                <a:spcPts val="500"/>
              </a:spcAft>
              <a:buNone/>
            </a:pPr>
            <a:r>
              <a:rPr lang="en-US" sz="1600" dirty="0">
                <a:solidFill>
                  <a:srgbClr val="1E2530"/>
                </a:solidFill>
                <a:latin typeface="Arial" pitchFamily="34" charset="0"/>
                <a:ea typeface="Arial" pitchFamily="34" charset="-122"/>
                <a:cs typeface="Arial" pitchFamily="34" charset="-120"/>
              </a:rPr>
              <a:t>More than 5 % of requests shed, per reason, for 5 min</a:t>
            </a:r>
            <a:endParaRPr lang="en-US" sz="1600" dirty="0"/>
          </a:p>
          <a:p>
            <a:pPr indent="0" marL="0">
              <a:spcAft>
                <a:spcPts val="500"/>
              </a:spcAft>
              <a:buNone/>
            </a:pPr>
            <a:r>
              <a:rPr lang="en-US" sz="1600" dirty="0">
                <a:solidFill>
                  <a:srgbClr val="1E2530"/>
                </a:solidFill>
                <a:latin typeface="Arial" pitchFamily="34" charset="0"/>
                <a:ea typeface="Arial" pitchFamily="34" charset="-122"/>
                <a:cs typeface="Arial" pitchFamily="34" charset="-120"/>
              </a:rPr>
              <a:t>Live: Fired under the labelled mix</a:t>
            </a:r>
            <a:endParaRPr lang="en-US" sz="1600" dirty="0"/>
          </a:p>
        </p:txBody>
      </p:sp>
      <p:sp>
        <p:nvSpPr>
          <p:cNvPr id="14" name="Shape 12"/>
          <p:cNvSpPr/>
          <p:nvPr/>
        </p:nvSpPr>
        <p:spPr>
          <a:xfrm>
            <a:off x="6236208" y="3566160"/>
            <a:ext cx="5495544" cy="2194560"/>
          </a:xfrm>
          <a:prstGeom prst="roundRect">
            <a:avLst>
              <a:gd name="adj" fmla="val 5000"/>
            </a:avLst>
          </a:prstGeom>
          <a:solidFill>
            <a:srgbClr val="F3F0FF"/>
          </a:solidFill>
          <a:ln w="12700">
            <a:solidFill>
              <a:srgbClr val="F3F0FF"/>
            </a:solidFill>
            <a:prstDash val="solid"/>
          </a:ln>
        </p:spPr>
      </p:sp>
      <p:sp>
        <p:nvSpPr>
          <p:cNvPr id="15" name="Text 13"/>
          <p:cNvSpPr txBox="1"/>
          <p:nvPr/>
        </p:nvSpPr>
        <p:spPr>
          <a:xfrm>
            <a:off x="6419088" y="3703320"/>
            <a:ext cx="5129784" cy="347472"/>
          </a:xfrm>
          <a:prstGeom prst="rect">
            <a:avLst/>
          </a:prstGeom>
          <a:noFill/>
          <a:ln/>
        </p:spPr>
        <p:txBody>
          <a:bodyPr wrap="square" lIns="0" tIns="0" rIns="0" bIns="0" rtlCol="0" anchor="ctr"/>
          <a:lstStyle/>
          <a:p>
            <a:pPr indent="0" marL="0">
              <a:buNone/>
            </a:pPr>
            <a:r>
              <a:rPr lang="en-US" sz="2000" b="1" dirty="0">
                <a:solidFill>
                  <a:srgbClr val="6741D9"/>
                </a:solidFill>
                <a:latin typeface="Arial" pitchFamily="34" charset="0"/>
                <a:ea typeface="Arial" pitchFamily="34" charset="-122"/>
                <a:cs typeface="Arial" pitchFamily="34" charset="-120"/>
              </a:rPr>
              <a:t>WorkerDown</a:t>
            </a:r>
            <a:endParaRPr lang="en-US" sz="2000" dirty="0"/>
          </a:p>
        </p:txBody>
      </p:sp>
      <p:sp>
        <p:nvSpPr>
          <p:cNvPr id="16" name="Text 14"/>
          <p:cNvSpPr txBox="1"/>
          <p:nvPr/>
        </p:nvSpPr>
        <p:spPr>
          <a:xfrm>
            <a:off x="6419088" y="4114800"/>
            <a:ext cx="5129784" cy="1536192"/>
          </a:xfrm>
          <a:prstGeom prst="rect">
            <a:avLst/>
          </a:prstGeom>
          <a:noFill/>
          <a:ln/>
        </p:spPr>
        <p:txBody>
          <a:bodyPr wrap="square" lIns="0" tIns="0" rIns="0" bIns="0" rtlCol="0" anchor="t"/>
          <a:lstStyle/>
          <a:p>
            <a:pPr indent="0" marL="0">
              <a:spcAft>
                <a:spcPts val="500"/>
              </a:spcAft>
              <a:buNone/>
            </a:pPr>
            <a:r>
              <a:rPr lang="en-US" sz="1600" dirty="0">
                <a:solidFill>
                  <a:srgbClr val="1E2530"/>
                </a:solidFill>
                <a:latin typeface="Arial" pitchFamily="34" charset="0"/>
                <a:ea typeface="Arial" pitchFamily="34" charset="-122"/>
                <a:cs typeface="Arial" pitchFamily="34" charset="-120"/>
              </a:rPr>
              <a:t>up == 0 for 1 min: capacity halved</a:t>
            </a:r>
            <a:endParaRPr lang="en-US" sz="1600" dirty="0"/>
          </a:p>
          <a:p>
            <a:pPr indent="0" marL="0">
              <a:spcAft>
                <a:spcPts val="500"/>
              </a:spcAft>
              <a:buNone/>
            </a:pPr>
            <a:r>
              <a:rPr lang="en-US" sz="1600" dirty="0">
                <a:solidFill>
                  <a:srgbClr val="1E2530"/>
                </a:solidFill>
                <a:latin typeface="Arial" pitchFamily="34" charset="0"/>
                <a:ea typeface="Arial" pitchFamily="34" charset="-122"/>
                <a:cs typeface="Arial" pitchFamily="34" charset="-120"/>
              </a:rPr>
              <a:t>Live: Pending: the restart was shorter than 1 min</a:t>
            </a:r>
            <a:endParaRPr lang="en-US" sz="1600" dirty="0"/>
          </a:p>
        </p:txBody>
      </p:sp>
      <p:sp>
        <p:nvSpPr>
          <p:cNvPr id="17" name="Text 15"/>
          <p:cNvSpPr txBox="1"/>
          <p:nvPr/>
        </p:nvSpPr>
        <p:spPr>
          <a:xfrm>
            <a:off x="457200" y="5989320"/>
            <a:ext cx="11274552" cy="365760"/>
          </a:xfrm>
          <a:prstGeom prst="rect">
            <a:avLst/>
          </a:prstGeom>
          <a:noFill/>
          <a:ln/>
        </p:spPr>
        <p:txBody>
          <a:bodyPr wrap="square" lIns="0" tIns="0" rIns="0" bIns="0" rtlCol="0" anchor="ctr"/>
          <a:lstStyle/>
          <a:p>
            <a:pPr indent="0" marL="0">
              <a:buNone/>
            </a:pPr>
            <a:r>
              <a:rPr lang="en-US" sz="1400" i="1" dirty="0">
                <a:solidFill>
                  <a:srgbClr val="5F6B7A"/>
                </a:solidFill>
                <a:latin typeface="Arial" pitchFamily="34" charset="0"/>
                <a:ea typeface="Arial" pitchFamily="34" charset="-122"/>
                <a:cs typeface="Arial" pitchFamily="34" charset="-120"/>
              </a:rPr>
              <a:t>Rules: monitoring/alerts.yaml, unit-tested with promtool (monitoring/tests/alerts_test.yaml).</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Scaling and 10x traffic</a:t>
            </a:r>
            <a:endParaRPr lang="en-US" sz="3000" dirty="0"/>
          </a:p>
        </p:txBody>
      </p:sp>
      <p:sp>
        <p:nvSpPr>
          <p:cNvPr id="3" name="Shape 1"/>
          <p:cNvSpPr/>
          <p:nvPr/>
        </p:nvSpPr>
        <p:spPr>
          <a:xfrm>
            <a:off x="10605211" y="384048"/>
            <a:ext cx="1129284"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605211" y="384048"/>
            <a:ext cx="112928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Q12 Q13</a:t>
            </a:r>
            <a:endParaRPr lang="en-US" sz="1200" dirty="0"/>
          </a:p>
        </p:txBody>
      </p:sp>
      <p:sp>
        <p:nvSpPr>
          <p:cNvPr id="5" name="Shape 3"/>
          <p:cNvSpPr/>
          <p:nvPr/>
        </p:nvSpPr>
        <p:spPr>
          <a:xfrm>
            <a:off x="457200" y="1097280"/>
            <a:ext cx="5504688" cy="5349240"/>
          </a:xfrm>
          <a:prstGeom prst="roundRect">
            <a:avLst>
              <a:gd name="adj" fmla="val 2051"/>
            </a:avLst>
          </a:prstGeom>
          <a:solidFill>
            <a:srgbClr val="EBFBEE"/>
          </a:solidFill>
          <a:ln w="12700">
            <a:solidFill>
              <a:srgbClr val="EBFBEE"/>
            </a:solidFill>
            <a:prstDash val="solid"/>
          </a:ln>
        </p:spPr>
      </p:sp>
      <p:sp>
        <p:nvSpPr>
          <p:cNvPr id="6" name="Text 4"/>
          <p:cNvSpPr txBox="1"/>
          <p:nvPr/>
        </p:nvSpPr>
        <p:spPr>
          <a:xfrm>
            <a:off x="640080" y="1234440"/>
            <a:ext cx="5138928" cy="347472"/>
          </a:xfrm>
          <a:prstGeom prst="rect">
            <a:avLst/>
          </a:prstGeom>
          <a:noFill/>
          <a:ln/>
        </p:spPr>
        <p:txBody>
          <a:bodyPr wrap="square" lIns="0" tIns="0" rIns="0" bIns="0" rtlCol="0" anchor="ctr"/>
          <a:lstStyle/>
          <a:p>
            <a:pPr indent="0" marL="0">
              <a:buNone/>
            </a:pPr>
            <a:r>
              <a:rPr lang="en-US" sz="2200" b="1" dirty="0">
                <a:solidFill>
                  <a:srgbClr val="2F9E44"/>
                </a:solidFill>
                <a:latin typeface="Arial" pitchFamily="34" charset="0"/>
                <a:ea typeface="Arial" pitchFamily="34" charset="-122"/>
                <a:cs typeface="Arial" pitchFamily="34" charset="-120"/>
              </a:rPr>
              <a:t>What I would do</a:t>
            </a:r>
            <a:endParaRPr lang="en-US" sz="2200" dirty="0"/>
          </a:p>
        </p:txBody>
      </p:sp>
      <p:sp>
        <p:nvSpPr>
          <p:cNvPr id="7" name="Text 5"/>
          <p:cNvSpPr txBox="1"/>
          <p:nvPr/>
        </p:nvSpPr>
        <p:spPr>
          <a:xfrm>
            <a:off x="640080" y="1645920"/>
            <a:ext cx="5138928" cy="4690872"/>
          </a:xfrm>
          <a:prstGeom prst="rect">
            <a:avLst/>
          </a:prstGeom>
          <a:noFill/>
          <a:ln/>
        </p:spPr>
        <p:txBody>
          <a:bodyPr wrap="square" lIns="0" tIns="0" rIns="0" bIns="0" rtlCol="0" anchor="t"/>
          <a:lstStyle/>
          <a:p>
            <a:pPr indent="0" marL="0">
              <a:spcAft>
                <a:spcPts val="500"/>
              </a:spcAft>
              <a:buNone/>
            </a:pPr>
            <a:r>
              <a:rPr lang="en-US" sz="1700" dirty="0">
                <a:solidFill>
                  <a:srgbClr val="1E2530"/>
                </a:solidFill>
                <a:latin typeface="Arial" pitchFamily="34" charset="0"/>
                <a:ea typeface="Arial" pitchFamily="34" charset="-122"/>
                <a:cs typeface="Arial" pitchFamily="34" charset="-120"/>
              </a:rPr>
              <a:t>Scale decode slots, not prefill: the prefix cache hit rate is ~1.0, the running cap of 8 binds.</a:t>
            </a:r>
            <a:endParaRPr lang="en-US" sz="1700" dirty="0"/>
          </a:p>
          <a:p>
            <a:pPr indent="0" marL="0">
              <a:spcAft>
                <a:spcPts val="500"/>
              </a:spcAft>
              <a:buNone/>
            </a:pPr>
            <a:r>
              <a:rPr lang="en-US" sz="1700" dirty="0">
                <a:solidFill>
                  <a:srgbClr val="1E2530"/>
                </a:solidFill>
                <a:latin typeface="Arial" pitchFamily="34" charset="0"/>
                <a:ea typeface="Arial" pitchFamily="34" charset="-122"/>
                <a:cs typeface="Arial" pitchFamily="34" charset="-120"/>
              </a:rPr>
              <a:t>1. Keep tenant windows and interactive priority.</a:t>
            </a:r>
            <a:endParaRPr lang="en-US" sz="1700" dirty="0"/>
          </a:p>
          <a:p>
            <a:pPr indent="0" marL="0">
              <a:spcAft>
                <a:spcPts val="500"/>
              </a:spcAft>
              <a:buNone/>
            </a:pPr>
            <a:r>
              <a:rPr lang="en-US" sz="1700" dirty="0">
                <a:solidFill>
                  <a:srgbClr val="1E2530"/>
                </a:solidFill>
                <a:latin typeface="Arial" pitchFamily="34" charset="0"/>
                <a:ea typeface="Arial" pitchFamily="34" charset="-122"/>
                <a:cs typeface="Arial" pitchFamily="34" charset="-120"/>
              </a:rPr>
              <a:t>2. Wire the overflow for 503 only.</a:t>
            </a:r>
            <a:endParaRPr lang="en-US" sz="1700" dirty="0"/>
          </a:p>
          <a:p>
            <a:pPr indent="0" marL="0">
              <a:spcAft>
                <a:spcPts val="500"/>
              </a:spcAft>
              <a:buNone/>
            </a:pPr>
            <a:r>
              <a:rPr lang="en-US" sz="1700" dirty="0">
                <a:solidFill>
                  <a:srgbClr val="1E2530"/>
                </a:solidFill>
                <a:latin typeface="Arial" pitchFamily="34" charset="0"/>
                <a:ea typeface="Arial" pitchFamily="34" charset="-122"/>
                <a:cs typeface="Arial" pitchFamily="34" charset="-120"/>
              </a:rPr>
              <a:t>3. Raise max-running-requests while time per token holds.</a:t>
            </a:r>
            <a:endParaRPr lang="en-US" sz="1700" dirty="0"/>
          </a:p>
          <a:p>
            <a:pPr indent="0" marL="0">
              <a:spcAft>
                <a:spcPts val="500"/>
              </a:spcAft>
              <a:buNone/>
            </a:pPr>
            <a:r>
              <a:rPr lang="en-US" sz="1700" dirty="0">
                <a:solidFill>
                  <a:srgbClr val="1E2530"/>
                </a:solidFill>
                <a:latin typeface="Arial" pitchFamily="34" charset="0"/>
                <a:ea typeface="Arial" pitchFamily="34" charset="-122"/>
                <a:cs typeface="Arial" pitchFamily="34" charset="-120"/>
              </a:rPr>
              <a:t>4. Then a second physical GPU for compute.</a:t>
            </a:r>
            <a:endParaRPr lang="en-US" sz="1700" dirty="0"/>
          </a:p>
        </p:txBody>
      </p:sp>
      <p:sp>
        <p:nvSpPr>
          <p:cNvPr id="8" name="Shape 6"/>
          <p:cNvSpPr/>
          <p:nvPr/>
        </p:nvSpPr>
        <p:spPr>
          <a:xfrm>
            <a:off x="6236208" y="1097280"/>
            <a:ext cx="5495544" cy="5349240"/>
          </a:xfrm>
          <a:prstGeom prst="roundRect">
            <a:avLst>
              <a:gd name="adj" fmla="val 2051"/>
            </a:avLst>
          </a:prstGeom>
          <a:solidFill>
            <a:srgbClr val="FFF5F5"/>
          </a:solidFill>
          <a:ln w="12700">
            <a:solidFill>
              <a:srgbClr val="FFF5F5"/>
            </a:solidFill>
            <a:prstDash val="solid"/>
          </a:ln>
        </p:spPr>
      </p:sp>
      <p:sp>
        <p:nvSpPr>
          <p:cNvPr id="9" name="Text 7"/>
          <p:cNvSpPr txBox="1"/>
          <p:nvPr/>
        </p:nvSpPr>
        <p:spPr>
          <a:xfrm>
            <a:off x="6419088" y="1234440"/>
            <a:ext cx="5129784" cy="347472"/>
          </a:xfrm>
          <a:prstGeom prst="rect">
            <a:avLst/>
          </a:prstGeom>
          <a:noFill/>
          <a:ln/>
        </p:spPr>
        <p:txBody>
          <a:bodyPr wrap="square" lIns="0" tIns="0" rIns="0" bIns="0" rtlCol="0" anchor="ctr"/>
          <a:lstStyle/>
          <a:p>
            <a:pPr indent="0" marL="0">
              <a:buNone/>
            </a:pPr>
            <a:r>
              <a:rPr lang="en-US" sz="2200" b="1" dirty="0">
                <a:solidFill>
                  <a:srgbClr val="C92A2A"/>
                </a:solidFill>
                <a:latin typeface="Arial" pitchFamily="34" charset="0"/>
                <a:ea typeface="Arial" pitchFamily="34" charset="-122"/>
                <a:cs typeface="Arial" pitchFamily="34" charset="-120"/>
              </a:rPr>
              <a:t>Three wrong knobs</a:t>
            </a:r>
            <a:endParaRPr lang="en-US" sz="2200" dirty="0"/>
          </a:p>
        </p:txBody>
      </p:sp>
      <p:sp>
        <p:nvSpPr>
          <p:cNvPr id="10" name="Text 8"/>
          <p:cNvSpPr txBox="1"/>
          <p:nvPr/>
        </p:nvSpPr>
        <p:spPr>
          <a:xfrm>
            <a:off x="6419088" y="1645920"/>
            <a:ext cx="5129784" cy="4690872"/>
          </a:xfrm>
          <a:prstGeom prst="rect">
            <a:avLst/>
          </a:prstGeom>
          <a:noFill/>
          <a:ln/>
        </p:spPr>
        <p:txBody>
          <a:bodyPr wrap="square" lIns="0" tIns="0" rIns="0" bIns="0" rtlCol="0" anchor="t"/>
          <a:lstStyle/>
          <a:p>
            <a:pPr indent="0" marL="0">
              <a:spcAft>
                <a:spcPts val="500"/>
              </a:spcAft>
              <a:buNone/>
            </a:pPr>
            <a:r>
              <a:rPr lang="en-US" sz="1700" dirty="0">
                <a:solidFill>
                  <a:srgbClr val="1E2530"/>
                </a:solidFill>
                <a:latin typeface="Arial" pitchFamily="34" charset="0"/>
                <a:ea typeface="Arial" pitchFamily="34" charset="-122"/>
                <a:cs typeface="Arial" pitchFamily="34" charset="-120"/>
              </a:rPr>
              <a:t>Bigger queue or longer queue timeout: hides overload as TTFT.</a:t>
            </a:r>
            <a:endParaRPr lang="en-US" sz="1700" dirty="0"/>
          </a:p>
          <a:p>
            <a:pPr indent="0" marL="0">
              <a:spcAft>
                <a:spcPts val="500"/>
              </a:spcAft>
              <a:buNone/>
            </a:pPr>
            <a:r>
              <a:rPr lang="en-US" sz="1700" dirty="0">
                <a:solidFill>
                  <a:srgbClr val="1E2530"/>
                </a:solidFill>
                <a:latin typeface="Arial" pitchFamily="34" charset="0"/>
                <a:ea typeface="Arial" pitchFamily="34" charset="-122"/>
                <a:cs typeface="Arial" pitchFamily="34" charset="-120"/>
              </a:rPr>
              <a:t>KV limit toward 1.0: turns sheds into engine retractions.</a:t>
            </a:r>
            <a:endParaRPr lang="en-US" sz="1700" dirty="0"/>
          </a:p>
          <a:p>
            <a:pPr indent="0" marL="0">
              <a:spcAft>
                <a:spcPts val="500"/>
              </a:spcAft>
              <a:buNone/>
            </a:pPr>
            <a:r>
              <a:rPr lang="en-US" sz="1700" dirty="0">
                <a:solidFill>
                  <a:srgbClr val="1E2530"/>
                </a:solidFill>
                <a:latin typeface="Arial" pitchFamily="34" charset="0"/>
                <a:ea typeface="Arial" pitchFamily="34" charset="-122"/>
                <a:cs typeface="Arial" pitchFamily="34" charset="-120"/>
              </a:rPr>
              <a:t>More HAMi replicas on the same GPU: same compute, less KV each, more hops.</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Bad answers - and ours</a:t>
            </a:r>
            <a:endParaRPr lang="en-US" sz="3000" dirty="0"/>
          </a:p>
        </p:txBody>
      </p:sp>
      <p:sp>
        <p:nvSpPr>
          <p:cNvPr id="3" name="Shape 1"/>
          <p:cNvSpPr/>
          <p:nvPr/>
        </p:nvSpPr>
        <p:spPr>
          <a:xfrm>
            <a:off x="10637215" y="384048"/>
            <a:ext cx="1097280"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637215" y="384048"/>
            <a:ext cx="10972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Part 8</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4572000"/>
                <a:gridCol w="6702552"/>
              </a:tblGrid>
              <a:tr h="420624">
                <a:tc>
                  <a:txBody>
                    <a:bodyPr/>
                    <a:lstStyle/>
                    <a:p>
                      <a:pPr indent="0" marL="0">
                        <a:buNone/>
                      </a:pPr>
                      <a:r>
                        <a:rPr lang="en-US" sz="1200" b="1" dirty="0">
                          <a:solidFill>
                            <a:srgbClr val="FFFFFF"/>
                          </a:solidFill>
                          <a:latin typeface="Arial" pitchFamily="34" charset="0"/>
                          <a:ea typeface="Arial" pitchFamily="34" charset="-122"/>
                          <a:cs typeface="Arial" pitchFamily="34" charset="-120"/>
                        </a:rPr>
                        <a:t>Bad answer in the brief</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Our position</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r>
              <a:tr h="420624">
                <a:tc>
                  <a:txBody>
                    <a:bodyPr/>
                    <a:lstStyle/>
                    <a:p>
                      <a:pPr indent="0" marL="0">
                        <a:buNone/>
                      </a:pPr>
                      <a:r>
                        <a:rPr lang="en-US" sz="1200" b="1" dirty="0">
                          <a:solidFill>
                            <a:srgbClr val="1E2530"/>
                          </a:solidFill>
                          <a:latin typeface="Arial" pitchFamily="34" charset="0"/>
                          <a:ea typeface="Arial" pitchFamily="34" charset="-122"/>
                          <a:cs typeface="Arial" pitchFamily="34" charset="-120"/>
                        </a:rPr>
                        <a:t>Bench latency at batch 8 is the SLO</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SLO from the app's own mix through the serve path</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E2530"/>
                          </a:solidFill>
                          <a:latin typeface="Arial" pitchFamily="34" charset="0"/>
                          <a:ea typeface="Arial" pitchFamily="34" charset="-122"/>
                          <a:cs typeface="Arial" pitchFamily="34" charset="-120"/>
                        </a:rPr>
                        <a:t>Cache full, add a same-size replica</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KV peaked at 8.8 %; same GPU = same compute</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420624">
                <a:tc>
                  <a:txBody>
                    <a:bodyPr/>
                    <a:lstStyle/>
                    <a:p>
                      <a:pPr indent="0" marL="0">
                        <a:buNone/>
                      </a:pPr>
                      <a:r>
                        <a:rPr lang="en-US" sz="1200" b="1" dirty="0">
                          <a:solidFill>
                            <a:srgbClr val="1E2530"/>
                          </a:solidFill>
                          <a:latin typeface="Arial" pitchFamily="34" charset="0"/>
                          <a:ea typeface="Arial" pitchFamily="34" charset="-122"/>
                          <a:cs typeface="Arial" pitchFamily="34" charset="-120"/>
                        </a:rPr>
                        <a:t>NCCL/NIXL moves KV tensors</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Nothing moves: backend recompute</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E2530"/>
                          </a:solidFill>
                          <a:latin typeface="Arial" pitchFamily="34" charset="0"/>
                          <a:ea typeface="Arial" pitchFamily="34" charset="-122"/>
                          <a:cs typeface="Arial" pitchFamily="34" charset="-120"/>
                        </a:rPr>
                        <a:t>Ready when the weights are loaded</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Ready after 5 warmups on the app prefix</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420624">
                <a:tc>
                  <a:txBody>
                    <a:bodyPr/>
                    <a:lstStyle/>
                    <a:p>
                      <a:pPr indent="0" marL="0">
                        <a:buNone/>
                      </a:pPr>
                      <a:r>
                        <a:rPr lang="en-US" sz="1200" b="1" dirty="0">
                          <a:solidFill>
                            <a:srgbClr val="1E2530"/>
                          </a:solidFill>
                          <a:latin typeface="Arial" pitchFamily="34" charset="0"/>
                          <a:ea typeface="Arial" pitchFamily="34" charset="-122"/>
                          <a:cs typeface="Arial" pitchFamily="34" charset="-120"/>
                        </a:rPr>
                        <a:t>Overflow is another API</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Named model (Qwen3-8B, owned 24 GB GPU) and limiter (KV pool)</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E2530"/>
                          </a:solidFill>
                          <a:latin typeface="Arial" pitchFamily="34" charset="0"/>
                          <a:ea typeface="Arial" pitchFamily="34" charset="-122"/>
                          <a:cs typeface="Arial" pitchFamily="34" charset="-120"/>
                        </a:rPr>
                        <a:t>Reimplemented the scheduler</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Engine flags only; we order only our own queue</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420624">
                <a:tc>
                  <a:txBody>
                    <a:bodyPr/>
                    <a:lstStyle/>
                    <a:p>
                      <a:pPr indent="0" marL="0">
                        <a:buNone/>
                      </a:pPr>
                      <a:r>
                        <a:rPr lang="en-US" sz="1200" b="1" dirty="0">
                          <a:solidFill>
                            <a:srgbClr val="1E2530"/>
                          </a:solidFill>
                          <a:latin typeface="Arial" pitchFamily="34" charset="0"/>
                          <a:ea typeface="Arial" pitchFamily="34" charset="-122"/>
                          <a:cs typeface="Arial" pitchFamily="34" charset="-120"/>
                        </a:rPr>
                        <a:t>A 429 that overflowed</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76 of 76 counted stay</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E2530"/>
                          </a:solidFill>
                          <a:latin typeface="Arial" pitchFamily="34" charset="0"/>
                          <a:ea typeface="Arial" pitchFamily="34" charset="-122"/>
                          <a:cs typeface="Arial" pitchFamily="34" charset="-120"/>
                        </a:rPr>
                        <a:t>The gateway fixed OOM</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HAMi limits memory; the gateway only refuses work</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420624">
                <a:tc>
                  <a:txBody>
                    <a:bodyPr/>
                    <a:lstStyle/>
                    <a:p>
                      <a:pPr indent="0" marL="0">
                        <a:buNone/>
                      </a:pPr>
                      <a:r>
                        <a:rPr lang="en-US" sz="1200" b="1" dirty="0">
                          <a:solidFill>
                            <a:srgbClr val="1E2530"/>
                          </a:solidFill>
                          <a:latin typeface="Arial" pitchFamily="34" charset="0"/>
                          <a:ea typeface="Arial" pitchFamily="34" charset="-122"/>
                          <a:cs typeface="Arial" pitchFamily="34" charset="-120"/>
                        </a:rPr>
                        <a:t>RAG is a third phase</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Retrieval is a tool call; the engine sees prefill and decode</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E2530"/>
                          </a:solidFill>
                          <a:latin typeface="Arial" pitchFamily="34" charset="0"/>
                          <a:ea typeface="Arial" pitchFamily="34" charset="-122"/>
                          <a:cs typeface="Arial" pitchFamily="34" charset="-120"/>
                        </a:rPr>
                        <a:t>Wall seconds across models</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One model; H100 and A100 latencies not compared</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420624">
                <a:tc>
                  <a:txBody>
                    <a:bodyPr/>
                    <a:lstStyle/>
                    <a:p>
                      <a:pPr indent="0" marL="0">
                        <a:buNone/>
                      </a:pPr>
                      <a:r>
                        <a:rPr lang="en-US" sz="1200" b="1" dirty="0">
                          <a:solidFill>
                            <a:srgbClr val="1E2530"/>
                          </a:solidFill>
                          <a:latin typeface="Arial" pitchFamily="34" charset="0"/>
                          <a:ea typeface="Arial" pitchFamily="34" charset="-122"/>
                          <a:cs typeface="Arial" pitchFamily="34" charset="-120"/>
                        </a:rPr>
                        <a:t>Cold TTFT as the SLO</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1E2530"/>
                          </a:solidFill>
                          <a:latin typeface="Arial" pitchFamily="34" charset="0"/>
                          <a:ea typeface="Arial" pitchFamily="34" charset="-122"/>
                          <a:cs typeface="Arial" pitchFamily="34" charset="-120"/>
                        </a:rPr>
                        <a:t>Warm only: 22-23 ms after warmup</a:t>
                      </a:r>
                      <a:endParaRPr lang="en-US" sz="12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Say it before anyone asks</a:t>
            </a:r>
            <a:endParaRPr lang="en-US" sz="3000" dirty="0"/>
          </a:p>
        </p:txBody>
      </p:sp>
      <p:sp>
        <p:nvSpPr>
          <p:cNvPr id="3" name="Shape 1"/>
          <p:cNvSpPr/>
          <p:nvPr/>
        </p:nvSpPr>
        <p:spPr>
          <a:xfrm>
            <a:off x="10413187" y="384048"/>
            <a:ext cx="1321308"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413187" y="384048"/>
            <a:ext cx="132130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Open work</a:t>
            </a:r>
            <a:endParaRPr lang="en-US" sz="1200" dirty="0"/>
          </a:p>
        </p:txBody>
      </p:sp>
      <p:sp>
        <p:nvSpPr>
          <p:cNvPr id="5" name="Shape 3"/>
          <p:cNvSpPr/>
          <p:nvPr/>
        </p:nvSpPr>
        <p:spPr>
          <a:xfrm>
            <a:off x="457200" y="1143000"/>
            <a:ext cx="3575304" cy="2423160"/>
          </a:xfrm>
          <a:prstGeom prst="roundRect">
            <a:avLst>
              <a:gd name="adj" fmla="val 4528"/>
            </a:avLst>
          </a:prstGeom>
          <a:solidFill>
            <a:srgbClr val="FFF4E6"/>
          </a:solidFill>
          <a:ln w="12700">
            <a:solidFill>
              <a:srgbClr val="FFF4E6"/>
            </a:solidFill>
            <a:prstDash val="solid"/>
          </a:ln>
        </p:spPr>
      </p:sp>
      <p:sp>
        <p:nvSpPr>
          <p:cNvPr id="6" name="Text 4"/>
          <p:cNvSpPr txBox="1"/>
          <p:nvPr/>
        </p:nvSpPr>
        <p:spPr>
          <a:xfrm>
            <a:off x="640080" y="1280160"/>
            <a:ext cx="3209544" cy="347472"/>
          </a:xfrm>
          <a:prstGeom prst="rect">
            <a:avLst/>
          </a:prstGeom>
          <a:noFill/>
          <a:ln/>
        </p:spPr>
        <p:txBody>
          <a:bodyPr wrap="square" lIns="0" tIns="0" rIns="0" bIns="0" rtlCol="0" anchor="ctr"/>
          <a:lstStyle/>
          <a:p>
            <a:pPr indent="0" marL="0">
              <a:buNone/>
            </a:pPr>
            <a:r>
              <a:rPr lang="en-US" sz="1700" b="1" dirty="0">
                <a:solidFill>
                  <a:srgbClr val="E67700"/>
                </a:solidFill>
                <a:latin typeface="Arial" pitchFamily="34" charset="0"/>
                <a:ea typeface="Arial" pitchFamily="34" charset="-122"/>
                <a:cs typeface="Arial" pitchFamily="34" charset="-120"/>
              </a:rPr>
              <a:t>Overflow not wired</a:t>
            </a:r>
            <a:endParaRPr lang="en-US" sz="1700" dirty="0"/>
          </a:p>
        </p:txBody>
      </p:sp>
      <p:sp>
        <p:nvSpPr>
          <p:cNvPr id="7" name="Text 5"/>
          <p:cNvSpPr txBox="1"/>
          <p:nvPr/>
        </p:nvSpPr>
        <p:spPr>
          <a:xfrm>
            <a:off x="640080" y="1691640"/>
            <a:ext cx="3209544" cy="1764792"/>
          </a:xfrm>
          <a:prstGeom prst="rect">
            <a:avLst/>
          </a:prstGeom>
          <a:noFill/>
          <a:ln/>
        </p:spPr>
        <p:txBody>
          <a:bodyPr wrap="square" lIns="0" tIns="0" rIns="0" bIns="0" rtlCol="0" anchor="t"/>
          <a:lstStyle/>
          <a:p>
            <a:pPr indent="0" marL="0">
              <a:spcAft>
                <a:spcPts val="500"/>
              </a:spcAft>
              <a:buNone/>
            </a:pPr>
            <a:r>
              <a:rPr lang="en-US" sz="1650" dirty="0">
                <a:solidFill>
                  <a:srgbClr val="1E2530"/>
                </a:solidFill>
                <a:latin typeface="Arial" pitchFamily="34" charset="0"/>
                <a:ea typeface="Arial" pitchFamily="34" charset="-122"/>
                <a:cs typeface="Arial" pitchFamily="34" charset="-120"/>
              </a:rPr>
              <a:t>Recipient decided; 503 counted as leave_disabled.</a:t>
            </a:r>
            <a:endParaRPr lang="en-US" sz="1650" dirty="0"/>
          </a:p>
        </p:txBody>
      </p:sp>
      <p:sp>
        <p:nvSpPr>
          <p:cNvPr id="8" name="Shape 6"/>
          <p:cNvSpPr/>
          <p:nvPr/>
        </p:nvSpPr>
        <p:spPr>
          <a:xfrm>
            <a:off x="4306824" y="1143000"/>
            <a:ext cx="3575304" cy="2423160"/>
          </a:xfrm>
          <a:prstGeom prst="roundRect">
            <a:avLst>
              <a:gd name="adj" fmla="val 4528"/>
            </a:avLst>
          </a:prstGeom>
          <a:solidFill>
            <a:srgbClr val="FFF4E6"/>
          </a:solidFill>
          <a:ln w="12700">
            <a:solidFill>
              <a:srgbClr val="FFF4E6"/>
            </a:solidFill>
            <a:prstDash val="solid"/>
          </a:ln>
        </p:spPr>
      </p:sp>
      <p:sp>
        <p:nvSpPr>
          <p:cNvPr id="9" name="Text 7"/>
          <p:cNvSpPr txBox="1"/>
          <p:nvPr/>
        </p:nvSpPr>
        <p:spPr>
          <a:xfrm>
            <a:off x="4489704" y="1280160"/>
            <a:ext cx="3209544" cy="347472"/>
          </a:xfrm>
          <a:prstGeom prst="rect">
            <a:avLst/>
          </a:prstGeom>
          <a:noFill/>
          <a:ln/>
        </p:spPr>
        <p:txBody>
          <a:bodyPr wrap="square" lIns="0" tIns="0" rIns="0" bIns="0" rtlCol="0" anchor="ctr"/>
          <a:lstStyle/>
          <a:p>
            <a:pPr indent="0" marL="0">
              <a:buNone/>
            </a:pPr>
            <a:r>
              <a:rPr lang="en-US" sz="1700" b="1" dirty="0">
                <a:solidFill>
                  <a:srgbClr val="E67700"/>
                </a:solidFill>
                <a:latin typeface="Arial" pitchFamily="34" charset="0"/>
                <a:ea typeface="Arial" pitchFamily="34" charset="-122"/>
                <a:cs typeface="Arial" pitchFamily="34" charset="-120"/>
              </a:rPr>
              <a:t>timeout_queue is reactive</a:t>
            </a:r>
            <a:endParaRPr lang="en-US" sz="1700" dirty="0"/>
          </a:p>
        </p:txBody>
      </p:sp>
      <p:sp>
        <p:nvSpPr>
          <p:cNvPr id="10" name="Text 8"/>
          <p:cNvSpPr txBox="1"/>
          <p:nvPr/>
        </p:nvSpPr>
        <p:spPr>
          <a:xfrm>
            <a:off x="4489704" y="1691640"/>
            <a:ext cx="3209544" cy="1764792"/>
          </a:xfrm>
          <a:prstGeom prst="rect">
            <a:avLst/>
          </a:prstGeom>
          <a:noFill/>
          <a:ln/>
        </p:spPr>
        <p:txBody>
          <a:bodyPr wrap="square" lIns="0" tIns="0" rIns="0" bIns="0" rtlCol="0" anchor="t"/>
          <a:lstStyle/>
          <a:p>
            <a:pPr indent="0" marL="0">
              <a:spcAft>
                <a:spcPts val="500"/>
              </a:spcAft>
              <a:buNone/>
            </a:pPr>
            <a:r>
              <a:rPr lang="en-US" sz="1650" dirty="0">
                <a:solidFill>
                  <a:srgbClr val="1E2530"/>
                </a:solidFill>
                <a:latin typeface="Arial" pitchFamily="34" charset="0"/>
                <a:ea typeface="Arial" pitchFamily="34" charset="-122"/>
                <a:cs typeface="Arial" pitchFamily="34" charset="-120"/>
              </a:rPr>
              <a:t>Found after the wait. Next: predict before enqueue.</a:t>
            </a:r>
            <a:endParaRPr lang="en-US" sz="1650" dirty="0"/>
          </a:p>
        </p:txBody>
      </p:sp>
      <p:sp>
        <p:nvSpPr>
          <p:cNvPr id="11" name="Shape 9"/>
          <p:cNvSpPr/>
          <p:nvPr/>
        </p:nvSpPr>
        <p:spPr>
          <a:xfrm>
            <a:off x="8156448" y="1143000"/>
            <a:ext cx="3575304" cy="2423160"/>
          </a:xfrm>
          <a:prstGeom prst="roundRect">
            <a:avLst>
              <a:gd name="adj" fmla="val 4528"/>
            </a:avLst>
          </a:prstGeom>
          <a:solidFill>
            <a:srgbClr val="FFF4E6"/>
          </a:solidFill>
          <a:ln w="12700">
            <a:solidFill>
              <a:srgbClr val="FFF4E6"/>
            </a:solidFill>
            <a:prstDash val="solid"/>
          </a:ln>
        </p:spPr>
      </p:sp>
      <p:sp>
        <p:nvSpPr>
          <p:cNvPr id="12" name="Text 10"/>
          <p:cNvSpPr txBox="1"/>
          <p:nvPr/>
        </p:nvSpPr>
        <p:spPr>
          <a:xfrm>
            <a:off x="8339328" y="1280160"/>
            <a:ext cx="3209544" cy="347472"/>
          </a:xfrm>
          <a:prstGeom prst="rect">
            <a:avLst/>
          </a:prstGeom>
          <a:noFill/>
          <a:ln/>
        </p:spPr>
        <p:txBody>
          <a:bodyPr wrap="square" lIns="0" tIns="0" rIns="0" bIns="0" rtlCol="0" anchor="ctr"/>
          <a:lstStyle/>
          <a:p>
            <a:pPr indent="0" marL="0">
              <a:buNone/>
            </a:pPr>
            <a:r>
              <a:rPr lang="en-US" sz="1700" b="1" dirty="0">
                <a:solidFill>
                  <a:srgbClr val="E67700"/>
                </a:solidFill>
                <a:latin typeface="Arial" pitchFamily="34" charset="0"/>
                <a:ea typeface="Arial" pitchFamily="34" charset="-122"/>
                <a:cs typeface="Arial" pitchFamily="34" charset="-120"/>
              </a:rPr>
              <a:t>No same-GPU p99 spread</a:t>
            </a:r>
            <a:endParaRPr lang="en-US" sz="1700" dirty="0"/>
          </a:p>
        </p:txBody>
      </p:sp>
      <p:sp>
        <p:nvSpPr>
          <p:cNvPr id="13" name="Text 11"/>
          <p:cNvSpPr txBox="1"/>
          <p:nvPr/>
        </p:nvSpPr>
        <p:spPr>
          <a:xfrm>
            <a:off x="8339328" y="1691640"/>
            <a:ext cx="3209544" cy="1764792"/>
          </a:xfrm>
          <a:prstGeom prst="rect">
            <a:avLst/>
          </a:prstGeom>
          <a:noFill/>
          <a:ln/>
        </p:spPr>
        <p:txBody>
          <a:bodyPr wrap="square" lIns="0" tIns="0" rIns="0" bIns="0" rtlCol="0" anchor="t"/>
          <a:lstStyle/>
          <a:p>
            <a:pPr indent="0" marL="0">
              <a:spcAft>
                <a:spcPts val="500"/>
              </a:spcAft>
              <a:buNone/>
            </a:pPr>
            <a:r>
              <a:rPr lang="en-US" sz="1650" dirty="0">
                <a:solidFill>
                  <a:srgbClr val="1E2530"/>
                </a:solidFill>
                <a:latin typeface="Arial" pitchFamily="34" charset="0"/>
                <a:ea typeface="Arial" pitchFamily="34" charset="-122"/>
                <a:cs typeface="Arial" pitchFamily="34" charset="-120"/>
              </a:rPr>
              <a:t>Protection is measured in failures: users 0, batch pays.</a:t>
            </a:r>
            <a:endParaRPr lang="en-US" sz="1650" dirty="0"/>
          </a:p>
        </p:txBody>
      </p:sp>
      <p:sp>
        <p:nvSpPr>
          <p:cNvPr id="14" name="Shape 12"/>
          <p:cNvSpPr/>
          <p:nvPr/>
        </p:nvSpPr>
        <p:spPr>
          <a:xfrm>
            <a:off x="457200" y="3840480"/>
            <a:ext cx="3575304" cy="2423160"/>
          </a:xfrm>
          <a:prstGeom prst="roundRect">
            <a:avLst>
              <a:gd name="adj" fmla="val 4528"/>
            </a:avLst>
          </a:prstGeom>
          <a:solidFill>
            <a:srgbClr val="FFF4E6"/>
          </a:solidFill>
          <a:ln w="12700">
            <a:solidFill>
              <a:srgbClr val="FFF4E6"/>
            </a:solidFill>
            <a:prstDash val="solid"/>
          </a:ln>
        </p:spPr>
      </p:sp>
      <p:sp>
        <p:nvSpPr>
          <p:cNvPr id="15" name="Text 13"/>
          <p:cNvSpPr txBox="1"/>
          <p:nvPr/>
        </p:nvSpPr>
        <p:spPr>
          <a:xfrm>
            <a:off x="640080" y="3977640"/>
            <a:ext cx="3209544" cy="347472"/>
          </a:xfrm>
          <a:prstGeom prst="rect">
            <a:avLst/>
          </a:prstGeom>
          <a:noFill/>
          <a:ln/>
        </p:spPr>
        <p:txBody>
          <a:bodyPr wrap="square" lIns="0" tIns="0" rIns="0" bIns="0" rtlCol="0" anchor="ctr"/>
          <a:lstStyle/>
          <a:p>
            <a:pPr indent="0" marL="0">
              <a:buNone/>
            </a:pPr>
            <a:r>
              <a:rPr lang="en-US" sz="1700" b="1" dirty="0">
                <a:solidFill>
                  <a:srgbClr val="E67700"/>
                </a:solidFill>
                <a:latin typeface="Arial" pitchFamily="34" charset="0"/>
                <a:ea typeface="Arial" pitchFamily="34" charset="-122"/>
                <a:cs typeface="Arial" pitchFamily="34" charset="-120"/>
              </a:rPr>
              <a:t>Tokenizer A/B owed</a:t>
            </a:r>
            <a:endParaRPr lang="en-US" sz="1700" dirty="0"/>
          </a:p>
        </p:txBody>
      </p:sp>
      <p:sp>
        <p:nvSpPr>
          <p:cNvPr id="16" name="Text 14"/>
          <p:cNvSpPr txBox="1"/>
          <p:nvPr/>
        </p:nvSpPr>
        <p:spPr>
          <a:xfrm>
            <a:off x="640080" y="4389120"/>
            <a:ext cx="3209544" cy="1764792"/>
          </a:xfrm>
          <a:prstGeom prst="rect">
            <a:avLst/>
          </a:prstGeom>
          <a:noFill/>
          <a:ln/>
        </p:spPr>
        <p:txBody>
          <a:bodyPr wrap="square" lIns="0" tIns="0" rIns="0" bIns="0" rtlCol="0" anchor="t"/>
          <a:lstStyle/>
          <a:p>
            <a:pPr indent="0" marL="0">
              <a:spcAft>
                <a:spcPts val="500"/>
              </a:spcAft>
              <a:buNone/>
            </a:pPr>
            <a:r>
              <a:rPr lang="en-US" sz="1650" dirty="0">
                <a:solidFill>
                  <a:srgbClr val="1E2530"/>
                </a:solidFill>
                <a:latin typeface="Arial" pitchFamily="34" charset="0"/>
                <a:ea typeface="Arial" pitchFamily="34" charset="-122"/>
                <a:cs typeface="Arial" pitchFamily="34" charset="-120"/>
              </a:rPr>
              <a:t>6 of 6 without a GPU; the GPU comparison is not run.</a:t>
            </a:r>
            <a:endParaRPr lang="en-US" sz="1650" dirty="0"/>
          </a:p>
        </p:txBody>
      </p:sp>
      <p:sp>
        <p:nvSpPr>
          <p:cNvPr id="17" name="Shape 15"/>
          <p:cNvSpPr/>
          <p:nvPr/>
        </p:nvSpPr>
        <p:spPr>
          <a:xfrm>
            <a:off x="4306824" y="3840480"/>
            <a:ext cx="3575304" cy="2423160"/>
          </a:xfrm>
          <a:prstGeom prst="roundRect">
            <a:avLst>
              <a:gd name="adj" fmla="val 4528"/>
            </a:avLst>
          </a:prstGeom>
          <a:solidFill>
            <a:srgbClr val="FFF4E6"/>
          </a:solidFill>
          <a:ln w="12700">
            <a:solidFill>
              <a:srgbClr val="FFF4E6"/>
            </a:solidFill>
            <a:prstDash val="solid"/>
          </a:ln>
        </p:spPr>
      </p:sp>
      <p:sp>
        <p:nvSpPr>
          <p:cNvPr id="18" name="Text 16"/>
          <p:cNvSpPr txBox="1"/>
          <p:nvPr/>
        </p:nvSpPr>
        <p:spPr>
          <a:xfrm>
            <a:off x="4489704" y="3977640"/>
            <a:ext cx="3209544" cy="347472"/>
          </a:xfrm>
          <a:prstGeom prst="rect">
            <a:avLst/>
          </a:prstGeom>
          <a:noFill/>
          <a:ln/>
        </p:spPr>
        <p:txBody>
          <a:bodyPr wrap="square" lIns="0" tIns="0" rIns="0" bIns="0" rtlCol="0" anchor="ctr"/>
          <a:lstStyle/>
          <a:p>
            <a:pPr indent="0" marL="0">
              <a:buNone/>
            </a:pPr>
            <a:r>
              <a:rPr lang="en-US" sz="1700" b="1" dirty="0">
                <a:solidFill>
                  <a:srgbClr val="E67700"/>
                </a:solidFill>
                <a:latin typeface="Arial" pitchFamily="34" charset="0"/>
                <a:ea typeface="Arial" pitchFamily="34" charset="-122"/>
                <a:cs typeface="Arial" pitchFamily="34" charset="-120"/>
              </a:rPr>
              <a:t>Batch deadline not on GPU</a:t>
            </a:r>
            <a:endParaRPr lang="en-US" sz="1700" dirty="0"/>
          </a:p>
        </p:txBody>
      </p:sp>
      <p:sp>
        <p:nvSpPr>
          <p:cNvPr id="19" name="Text 17"/>
          <p:cNvSpPr txBox="1"/>
          <p:nvPr/>
        </p:nvSpPr>
        <p:spPr>
          <a:xfrm>
            <a:off x="4489704" y="4389120"/>
            <a:ext cx="3209544" cy="1764792"/>
          </a:xfrm>
          <a:prstGeom prst="rect">
            <a:avLst/>
          </a:prstGeom>
          <a:noFill/>
          <a:ln/>
        </p:spPr>
        <p:txBody>
          <a:bodyPr wrap="square" lIns="0" tIns="0" rIns="0" bIns="0" rtlCol="0" anchor="t"/>
          <a:lstStyle/>
          <a:p>
            <a:pPr indent="0" marL="0">
              <a:spcAft>
                <a:spcPts val="500"/>
              </a:spcAft>
              <a:buNone/>
            </a:pPr>
            <a:r>
              <a:rPr lang="en-US" sz="1650" dirty="0">
                <a:solidFill>
                  <a:srgbClr val="1E2530"/>
                </a:solidFill>
                <a:latin typeface="Arial" pitchFamily="34" charset="0"/>
                <a:ea typeface="Arial" pitchFamily="34" charset="-122"/>
                <a:cs typeface="Arial" pitchFamily="34" charset="-120"/>
              </a:rPr>
              <a:t>30 s + half the queue is tested, not yet on the GPU.</a:t>
            </a:r>
            <a:endParaRPr lang="en-US" sz="1650" dirty="0"/>
          </a:p>
        </p:txBody>
      </p:sp>
      <p:sp>
        <p:nvSpPr>
          <p:cNvPr id="20" name="Shape 18"/>
          <p:cNvSpPr/>
          <p:nvPr/>
        </p:nvSpPr>
        <p:spPr>
          <a:xfrm>
            <a:off x="8156448" y="3840480"/>
            <a:ext cx="3575304" cy="2423160"/>
          </a:xfrm>
          <a:prstGeom prst="roundRect">
            <a:avLst>
              <a:gd name="adj" fmla="val 4528"/>
            </a:avLst>
          </a:prstGeom>
          <a:solidFill>
            <a:srgbClr val="FFF4E6"/>
          </a:solidFill>
          <a:ln w="12700">
            <a:solidFill>
              <a:srgbClr val="FFF4E6"/>
            </a:solidFill>
            <a:prstDash val="solid"/>
          </a:ln>
        </p:spPr>
      </p:sp>
      <p:sp>
        <p:nvSpPr>
          <p:cNvPr id="21" name="Text 19"/>
          <p:cNvSpPr txBox="1"/>
          <p:nvPr/>
        </p:nvSpPr>
        <p:spPr>
          <a:xfrm>
            <a:off x="8339328" y="3977640"/>
            <a:ext cx="3209544" cy="347472"/>
          </a:xfrm>
          <a:prstGeom prst="rect">
            <a:avLst/>
          </a:prstGeom>
          <a:noFill/>
          <a:ln/>
        </p:spPr>
        <p:txBody>
          <a:bodyPr wrap="square" lIns="0" tIns="0" rIns="0" bIns="0" rtlCol="0" anchor="ctr"/>
          <a:lstStyle/>
          <a:p>
            <a:pPr indent="0" marL="0">
              <a:buNone/>
            </a:pPr>
            <a:r>
              <a:rPr lang="en-US" sz="1700" b="1" dirty="0">
                <a:solidFill>
                  <a:srgbClr val="E67700"/>
                </a:solidFill>
                <a:latin typeface="Arial" pitchFamily="34" charset="0"/>
                <a:ea typeface="Arial" pitchFamily="34" charset="-122"/>
                <a:cs typeface="Arial" pitchFamily="34" charset="-120"/>
              </a:rPr>
              <a:t>No status panel</a:t>
            </a:r>
            <a:endParaRPr lang="en-US" sz="1700" dirty="0"/>
          </a:p>
        </p:txBody>
      </p:sp>
      <p:sp>
        <p:nvSpPr>
          <p:cNvPr id="22" name="Text 20"/>
          <p:cNvSpPr txBox="1"/>
          <p:nvPr/>
        </p:nvSpPr>
        <p:spPr>
          <a:xfrm>
            <a:off x="8339328" y="4389120"/>
            <a:ext cx="3209544" cy="1764792"/>
          </a:xfrm>
          <a:prstGeom prst="rect">
            <a:avLst/>
          </a:prstGeom>
          <a:noFill/>
          <a:ln/>
        </p:spPr>
        <p:txBody>
          <a:bodyPr wrap="square" lIns="0" tIns="0" rIns="0" bIns="0" rtlCol="0" anchor="t"/>
          <a:lstStyle/>
          <a:p>
            <a:pPr indent="0" marL="0">
              <a:spcAft>
                <a:spcPts val="500"/>
              </a:spcAft>
              <a:buNone/>
            </a:pPr>
            <a:r>
              <a:rPr lang="en-US" sz="1650" dirty="0">
                <a:solidFill>
                  <a:srgbClr val="1E2530"/>
                </a:solidFill>
                <a:latin typeface="Arial" pitchFamily="34" charset="0"/>
                <a:ea typeface="Arial" pitchFamily="34" charset="-122"/>
                <a:cs typeface="Arial" pitchFamily="34" charset="-120"/>
              </a:rPr>
              <a:t>Sheds by reason exist; success by status code does not.</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778240" cy="640080"/>
          </a:xfrm>
          <a:prstGeom prst="rect">
            <a:avLst/>
          </a:prstGeom>
          <a:noFill/>
          <a:ln/>
        </p:spPr>
        <p:txBody>
          <a:bodyPr wrap="square" lIns="0" tIns="0" rIns="0" bIns="0" rtlCol="0" anchor="ctr"/>
          <a:lstStyle/>
          <a:p>
            <a:pPr indent="0" marL="0">
              <a:buNone/>
            </a:pPr>
            <a:r>
              <a:rPr lang="en-US" sz="3000" b="1" dirty="0">
                <a:solidFill>
                  <a:srgbClr val="1E2530"/>
                </a:solidFill>
                <a:latin typeface="Arial" pitchFamily="34" charset="0"/>
                <a:ea typeface="Arial" pitchFamily="34" charset="-122"/>
                <a:cs typeface="Arial" pitchFamily="34" charset="-120"/>
              </a:rPr>
              <a:t>The 13 questions</a:t>
            </a:r>
            <a:endParaRPr lang="en-US" sz="3000" dirty="0"/>
          </a:p>
        </p:txBody>
      </p:sp>
      <p:sp>
        <p:nvSpPr>
          <p:cNvPr id="3" name="Shape 1"/>
          <p:cNvSpPr/>
          <p:nvPr/>
        </p:nvSpPr>
        <p:spPr>
          <a:xfrm>
            <a:off x="10637215" y="384048"/>
            <a:ext cx="1097280" cy="384048"/>
          </a:xfrm>
          <a:prstGeom prst="roundRect">
            <a:avLst>
              <a:gd name="adj" fmla="val 47619"/>
            </a:avLst>
          </a:prstGeom>
          <a:solidFill>
            <a:srgbClr val="E67700"/>
          </a:solidFill>
          <a:ln w="12700">
            <a:solidFill>
              <a:srgbClr val="E67700"/>
            </a:solidFill>
            <a:prstDash val="solid"/>
          </a:ln>
        </p:spPr>
      </p:sp>
      <p:sp>
        <p:nvSpPr>
          <p:cNvPr id="4" name="Text 2"/>
          <p:cNvSpPr txBox="1"/>
          <p:nvPr/>
        </p:nvSpPr>
        <p:spPr>
          <a:xfrm>
            <a:off x="10637215" y="384048"/>
            <a:ext cx="10972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Index</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74552" cy="914400"/>
        </p:xfrm>
        <a:graphic>
          <a:graphicData uri="http://schemas.openxmlformats.org/drawingml/2006/table">
            <a:tbl>
              <a:tblPr/>
              <a:tblGrid>
                <a:gridCol w="457200"/>
                <a:gridCol w="3291840"/>
                <a:gridCol w="6702552"/>
                <a:gridCol w="822960"/>
              </a:tblGrid>
              <a:tr h="384048">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Answer</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Slide</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E2530"/>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App; shared vs unique tokens</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Track B agent; shared = prompts + tool schema, unique = question, tool result</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2</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What dies where</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guard 400, tenant 429, admit 503, queue 503 / 504</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3</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Prevent work that will time out</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Queue deadline before dispatch: 5 s, batch 30 s</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4</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Protect KV</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Admit below 0.90; dispatch cap = engine cap; guard at 8,192</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6, 7</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Prioritise interactive</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Per-worker priority queue: users 0 failures, batch pays</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One tenant owning the GPU</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Token window per X-Tenant: 76 x 429 on revision-batch</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7</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Hop; what is not copied</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Recorded at placement; KV is not copied (recompute)</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Evict; ghosts</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forget_worker + LRU; ghost = dead worker's prefix marked warm</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9</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Engine scheduler vs ours</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Two boxes; backlog in our queue, engine queue ~0</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4, 10</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What limited concurrency</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Gateway cap 2, then engine cap 8; not KV</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11</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Four alerts</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KvCachePressure, TtftSloBreach, HighShedRate, WorkerDown</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16</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Which pool to scale</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Decode slots</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17</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3F5F7"/>
                    </a:solidFill>
                  </a:tcPr>
                </a:tc>
              </a:tr>
              <a:tr h="384048">
                <a:tc>
                  <a:txBody>
                    <a:bodyPr/>
                    <a:lstStyle/>
                    <a:p>
                      <a:pPr indent="0" marL="0">
                        <a:buNone/>
                      </a:pPr>
                      <a:r>
                        <a:rPr lang="en-US" sz="1100" dirty="0">
                          <a:solidFill>
                            <a:srgbClr val="1E2530"/>
                          </a:solidFill>
                          <a:latin typeface="Arial" pitchFamily="34" charset="0"/>
                          <a:ea typeface="Arial" pitchFamily="34" charset="-122"/>
                          <a:cs typeface="Arial" pitchFamily="34" charset="-120"/>
                        </a:rPr>
                        <a:t>13</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10x; three wrong knobs</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Priority, overflow, compute; not queues, KV limit or replicas</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100" dirty="0">
                          <a:solidFill>
                            <a:srgbClr val="1E2530"/>
                          </a:solidFill>
                          <a:latin typeface="Arial" pitchFamily="34" charset="0"/>
                          <a:ea typeface="Arial" pitchFamily="34" charset="-122"/>
                          <a:cs typeface="Arial" pitchFamily="34" charset="-120"/>
                        </a:rPr>
                        <a:t>17</a:t>
                      </a:r>
                      <a:endParaRPr lang="en-US" sz="1100" dirty="0">
                        <a:latin typeface="Arial" charset="0"/>
                        <a:ea typeface="Arial" charset="0"/>
                        <a:cs typeface="Arial" charset="0"/>
                      </a:endParaRPr>
                    </a:p>
                  </a:txBody>
                  <a:tcPr marL="73152" marR="73152" marT="36576" marB="36576"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530"/>
        </a:solidFill>
      </p:bgPr>
    </p:bg>
    <p:spTree>
      <p:nvGrpSpPr>
        <p:cNvPr id="1" name=""/>
        <p:cNvGrpSpPr/>
        <p:nvPr/>
      </p:nvGrpSpPr>
      <p:grpSpPr>
        <a:xfrm>
          <a:off x="0" y="0"/>
          <a:ext cx="0" cy="0"/>
          <a:chOff x="0" y="0"/>
          <a:chExt cx="0" cy="0"/>
        </a:xfrm>
      </p:grpSpPr>
      <p:sp>
        <p:nvSpPr>
          <p:cNvPr id="2" name="Text 0"/>
          <p:cNvSpPr txBox="1"/>
          <p:nvPr/>
        </p:nvSpPr>
        <p:spPr>
          <a:xfrm>
            <a:off x="731520" y="1645920"/>
            <a:ext cx="10698480" cy="16459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gateway decides what enters and where.</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The engine decides what runs next.</a:t>
            </a:r>
            <a:endParaRPr lang="en-US" sz="3400" dirty="0"/>
          </a:p>
        </p:txBody>
      </p:sp>
      <p:sp>
        <p:nvSpPr>
          <p:cNvPr id="3" name="Text 1"/>
          <p:cNvSpPr txBox="1"/>
          <p:nvPr/>
        </p:nvSpPr>
        <p:spPr>
          <a:xfrm>
            <a:off x="731520" y="3474720"/>
            <a:ext cx="10698480" cy="548640"/>
          </a:xfrm>
          <a:prstGeom prst="rect">
            <a:avLst/>
          </a:prstGeom>
          <a:noFill/>
          <a:ln/>
        </p:spPr>
        <p:txBody>
          <a:bodyPr wrap="square" lIns="0" tIns="0" rIns="0" bIns="0" rtlCol="0" anchor="ctr"/>
          <a:lstStyle/>
          <a:p>
            <a:pPr indent="0" marL="0">
              <a:buNone/>
            </a:pPr>
            <a:r>
              <a:rPr lang="en-US" sz="2000" i="1" dirty="0">
                <a:solidFill>
                  <a:srgbClr val="CBD3DC"/>
                </a:solidFill>
                <a:latin typeface="Arial" pitchFamily="34" charset="0"/>
                <a:ea typeface="Arial" pitchFamily="34" charset="-122"/>
                <a:cs typeface="Arial" pitchFamily="34" charset="-120"/>
              </a:rPr>
              <a:t>Every decision is proven with scrapes from the real cluster.</a:t>
            </a:r>
            <a:endParaRPr lang="en-US" sz="2000" dirty="0"/>
          </a:p>
        </p:txBody>
      </p:sp>
      <p:sp>
        <p:nvSpPr>
          <p:cNvPr id="4" name="Text 2"/>
          <p:cNvSpPr txBox="1"/>
          <p:nvPr/>
        </p:nvSpPr>
        <p:spPr>
          <a:xfrm>
            <a:off x="731520" y="4754880"/>
            <a:ext cx="10698480" cy="91440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github.com/markat1/course-assistant</a:t>
            </a:r>
            <a:endParaRPr lang="en-US" sz="1600" dirty="0"/>
          </a:p>
          <a:p>
            <a:pPr indent="0" marL="0">
              <a:buNone/>
            </a:pPr>
            <a:r>
              <a:rPr lang="en-US" sz="1600" dirty="0">
                <a:solidFill>
                  <a:srgbClr val="FFFFFF"/>
                </a:solidFill>
                <a:latin typeface="Arial" pitchFamily="34" charset="0"/>
                <a:ea typeface="Arial" pitchFamily="34" charset="-122"/>
                <a:cs typeface="Arial" pitchFamily="34" charset="-120"/>
              </a:rPr>
              <a:t>DESIGN.md  |  notebook/part5_queue.ipynb  |  docs/PRESENTATION.md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Assistant - design the cluster and serve an app</dc:title>
  <dc:subject>PptxGenJS Presentation</dc:subject>
  <dc:creator>PptxGenJS</dc:creator>
  <cp:lastModifiedBy>PptxGenJS</cp:lastModifiedBy>
  <cp:revision>1</cp:revision>
  <dcterms:created xsi:type="dcterms:W3CDTF">2026-10-01T16:20:42Z</dcterms:created>
  <dcterms:modified xsi:type="dcterms:W3CDTF">2026-10-01T16:20:42Z</dcterms:modified>
</cp:coreProperties>
</file>